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0" r:id="rId4"/>
    <p:sldId id="264" r:id="rId5"/>
    <p:sldId id="261" r:id="rId6"/>
    <p:sldId id="265" r:id="rId7"/>
    <p:sldId id="262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2" r:id="rId18"/>
    <p:sldId id="279" r:id="rId19"/>
    <p:sldId id="283" r:id="rId20"/>
    <p:sldId id="280" r:id="rId21"/>
    <p:sldId id="281" r:id="rId22"/>
    <p:sldId id="284" r:id="rId23"/>
    <p:sldId id="269" r:id="rId24"/>
    <p:sldId id="256" r:id="rId25"/>
    <p:sldId id="266" r:id="rId26"/>
    <p:sldId id="257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EC484-1A7D-23AB-6ECE-5AD36FBF9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C99E2F-A7B2-1EC2-5CEB-35713989E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600D8-B993-7B40-34B5-CB41DA89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4013A1-83F9-0D23-37FB-A683D75D8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B726E0-86A5-B7E6-1FDB-CD308ACD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08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78443-ECC2-51B2-755E-24E6E02C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A2C919-2BB0-49B6-8756-C500E40CE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BFC9FF-D9FC-051B-A1A2-A48672E1D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C1B348-AC0E-9D58-679B-BAA06FD4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D5BC9-17CB-63DC-92F5-94A60A84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44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649CC-806D-A8CB-5C59-F41B2803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BA756C-C362-08AA-0E8F-85B1B615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9B342-72A9-0106-E98B-D07DCB94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3CDAA1-EB8B-DF1A-5282-C0BBB4C96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B23862-FD66-66D6-D104-2CEEEB08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7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0AA2D-2119-641A-0BB2-158A0F26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197E1-C50A-72D0-3D6F-A132CBEB6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DF972-4ADF-BD57-7ACB-5F15A31C6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575C42-5680-4531-EF62-73AC43B0B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9CEDE2-AA2B-A955-10EF-83933710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98DD4E-3D63-79BB-59C5-E2CB887B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0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95DAE-0C41-AFC6-FDE3-14548DEE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9560BA-E27E-E9D8-2079-2F592384A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5B3829-D140-379B-AE18-B5E0E32CD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09FDC3-F0AF-0EC7-E138-46A4057E6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CFDD96-B015-EBC8-D907-84C20013E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A17A7B-70B8-212B-F910-019B112B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408E41-2DAD-F608-EEEA-99851814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C835A2-EEA1-36F2-18F0-3D6B2FD9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38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DC519-C890-2755-445A-6B0AD2C9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22A539-BA57-5195-25AD-1BD2A67E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E0265D-17A4-6A90-9430-071B2B11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610CB8-9F3B-2362-254C-A3C2B08F3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10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58ADDE-00B2-BC72-A383-1FCC2C82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3B2788-1A68-01FF-D0F1-F08F36EA8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AAA8FC-9BC0-70C7-A669-D977711E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22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361A1-CABE-EC92-8F5B-14345FF1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0C921-E51E-9328-3895-64247A94C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B64032-4025-FE27-6E4C-95894B2B9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67094A-F069-4C54-7748-676EF42E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3241CC-CFFD-58DF-44DC-2900C038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C9F355-E6EF-C066-7498-0CFD6A6F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3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B1A39-428F-2273-6DC7-24AD0AFE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43FE86-F5B1-2A21-F9EE-B7EAE8A74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05FBE3-7675-F822-E9DA-81600CE6D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A9B225-8E07-A6D0-BED2-61F3987C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71E731-2774-BE35-1371-2A43EDCA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8EF7CD-F578-B738-7325-DF04F8CD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9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20513-C262-5BC1-6A94-3B58CF9B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D46155-AC35-B8DF-270C-630E09FF5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881C56-18EA-58BA-E1FC-4E26A3F2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3BA61-FF52-F0D4-B2D9-D7A8FEF1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C32234-0A0A-0DA4-4FDC-B2C47F3E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63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A69C6A-4B32-30ED-7CCB-580404EE0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BBBABF-2497-C7BA-D306-A23DA992E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201205-F02E-1F01-5723-EDDC6608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4C126E-53DA-65B3-57C5-6CD1B8F6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39BF9A-B328-B087-A747-C24D4B3F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8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B22924-65B9-E4C2-355A-C6AC7672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3225B3-4E6A-2A8F-FBF7-1079BB6A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81225-0F6B-2D34-53F1-E14CF5D6E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4FF84-083F-4144-840A-AB2466356D6A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08E949-8320-1DA4-3073-90E319382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E278E-984F-C1A2-0CD5-54D9797C5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A8C03-9F3C-47C9-866D-B9AE219E05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60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아주대 </a:t>
            </a:r>
            <a:r>
              <a:rPr lang="ko-KR" altLang="en-US" dirty="0" err="1"/>
              <a:t>인트로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78" y="5220826"/>
            <a:ext cx="1767840" cy="176784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35EC2D-0884-2317-F3B3-5E836046D33C}"/>
              </a:ext>
            </a:extLst>
          </p:cNvPr>
          <p:cNvSpPr/>
          <p:nvPr/>
        </p:nvSpPr>
        <p:spPr>
          <a:xfrm>
            <a:off x="5947286" y="172948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72FCEA6-F948-D676-75A2-7C591E601899}"/>
              </a:ext>
            </a:extLst>
          </p:cNvPr>
          <p:cNvSpPr/>
          <p:nvPr/>
        </p:nvSpPr>
        <p:spPr>
          <a:xfrm>
            <a:off x="1831185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학교장추천 대상자</a:t>
            </a:r>
            <a:endParaRPr lang="en-US" altLang="ko-KR" sz="1200" dirty="0"/>
          </a:p>
          <a:p>
            <a:pPr algn="ctr"/>
            <a:r>
              <a:rPr lang="ko-KR" altLang="en-US" sz="1200" dirty="0"/>
              <a:t>입력방법 안내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21E967D-A98E-B817-3B7B-B644210FF3FA}"/>
              </a:ext>
            </a:extLst>
          </p:cNvPr>
          <p:cNvSpPr/>
          <p:nvPr/>
        </p:nvSpPr>
        <p:spPr>
          <a:xfrm>
            <a:off x="845483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B6D60AE-FB10-2E5D-3096-15807022D5F7}"/>
              </a:ext>
            </a:extLst>
          </p:cNvPr>
          <p:cNvSpPr/>
          <p:nvPr/>
        </p:nvSpPr>
        <p:spPr>
          <a:xfrm>
            <a:off x="5143007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89B5DBF-EF9E-EC9B-5663-093DE1FEF7A1}"/>
              </a:ext>
            </a:extLst>
          </p:cNvPr>
          <p:cNvSpPr/>
          <p:nvPr/>
        </p:nvSpPr>
        <p:spPr>
          <a:xfrm>
            <a:off x="6798918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8876" y="1854926"/>
            <a:ext cx="372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아주대학교 수시모집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C6E4A-973B-185D-9E19-422645D7D698}"/>
              </a:ext>
            </a:extLst>
          </p:cNvPr>
          <p:cNvSpPr txBox="1"/>
          <p:nvPr/>
        </p:nvSpPr>
        <p:spPr>
          <a:xfrm>
            <a:off x="1831185" y="3153345"/>
            <a:ext cx="401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원서접수기간</a:t>
            </a:r>
            <a:r>
              <a:rPr lang="en-US" altLang="ko-KR" sz="1000" dirty="0"/>
              <a:t>: 2026.09.07.(</a:t>
            </a:r>
            <a:r>
              <a:rPr lang="ko-KR" altLang="en-US" sz="1000" dirty="0"/>
              <a:t>월</a:t>
            </a:r>
            <a:r>
              <a:rPr lang="en-US" altLang="ko-KR" sz="1000" dirty="0"/>
              <a:t>) 09:00~09.11.(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2026.09.15.(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학교장추천 대상자 입력</a:t>
            </a:r>
            <a:r>
              <a:rPr lang="en-US" altLang="ko-KR" sz="1000" dirty="0"/>
              <a:t>: 2026.09.14.(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09:00~09.18.(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8279C-3C1C-F29C-4ACA-BFA15E6D4BC2}"/>
              </a:ext>
            </a:extLst>
          </p:cNvPr>
          <p:cNvSpPr txBox="1"/>
          <p:nvPr/>
        </p:nvSpPr>
        <p:spPr>
          <a:xfrm>
            <a:off x="6013234" y="1804028"/>
            <a:ext cx="390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모집단위 개편 및 신설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A74C28-5A1E-E651-C6F7-A5BE6D406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0670" y="3663194"/>
            <a:ext cx="676369" cy="209579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05A715-F69A-20B8-2C49-17527F7BE237}"/>
              </a:ext>
            </a:extLst>
          </p:cNvPr>
          <p:cNvSpPr/>
          <p:nvPr/>
        </p:nvSpPr>
        <p:spPr>
          <a:xfrm>
            <a:off x="6204499" y="2255210"/>
            <a:ext cx="1090843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산업공학과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7CF39E-31CB-1256-234C-1E6BFB0D6610}"/>
              </a:ext>
            </a:extLst>
          </p:cNvPr>
          <p:cNvSpPr/>
          <p:nvPr/>
        </p:nvSpPr>
        <p:spPr>
          <a:xfrm>
            <a:off x="6204499" y="2870402"/>
            <a:ext cx="1090843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환경안전공학과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420875-61D9-2429-390A-1F59B0AB5A63}"/>
              </a:ext>
            </a:extLst>
          </p:cNvPr>
          <p:cNvSpPr/>
          <p:nvPr/>
        </p:nvSpPr>
        <p:spPr>
          <a:xfrm>
            <a:off x="6204499" y="2562806"/>
            <a:ext cx="1090843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응용화학과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E3D073-6AB6-7490-DEA5-F52573DB899B}"/>
              </a:ext>
            </a:extLst>
          </p:cNvPr>
          <p:cNvSpPr/>
          <p:nvPr/>
        </p:nvSpPr>
        <p:spPr>
          <a:xfrm>
            <a:off x="6204499" y="3485596"/>
            <a:ext cx="1090843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인공지능융합학부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DFAC2D1-47D3-7220-1357-F57D69BBC710}"/>
              </a:ext>
            </a:extLst>
          </p:cNvPr>
          <p:cNvSpPr/>
          <p:nvPr/>
        </p:nvSpPr>
        <p:spPr>
          <a:xfrm>
            <a:off x="6204499" y="3177998"/>
            <a:ext cx="1090843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소프트웨어학과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EF3A99D-E46B-BA9C-79DE-D8A93DAA6F6F}"/>
              </a:ext>
            </a:extLst>
          </p:cNvPr>
          <p:cNvCxnSpPr>
            <a:stCxn id="6" idx="3"/>
          </p:cNvCxnSpPr>
          <p:nvPr/>
        </p:nvCxnSpPr>
        <p:spPr>
          <a:xfrm flipV="1">
            <a:off x="7295342" y="2359999"/>
            <a:ext cx="9603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98C184D7-28AD-716B-0639-AA04D26EF5D0}"/>
              </a:ext>
            </a:extLst>
          </p:cNvPr>
          <p:cNvCxnSpPr>
            <a:stCxn id="16" idx="3"/>
          </p:cNvCxnSpPr>
          <p:nvPr/>
        </p:nvCxnSpPr>
        <p:spPr>
          <a:xfrm>
            <a:off x="7295342" y="2667596"/>
            <a:ext cx="1021344" cy="1470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FC234E59-6D89-25DA-EE37-F76A82EF3859}"/>
              </a:ext>
            </a:extLst>
          </p:cNvPr>
          <p:cNvCxnSpPr>
            <a:stCxn id="8" idx="3"/>
          </p:cNvCxnSpPr>
          <p:nvPr/>
        </p:nvCxnSpPr>
        <p:spPr>
          <a:xfrm flipV="1">
            <a:off x="7295342" y="2807431"/>
            <a:ext cx="1021344" cy="1677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38B9856-020E-5D55-4176-9B9EC828DDD5}"/>
              </a:ext>
            </a:extLst>
          </p:cNvPr>
          <p:cNvCxnSpPr/>
          <p:nvPr/>
        </p:nvCxnSpPr>
        <p:spPr>
          <a:xfrm>
            <a:off x="7295342" y="3282081"/>
            <a:ext cx="1021344" cy="1470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32136D66-D7A0-A984-A06E-F9A7248DC331}"/>
              </a:ext>
            </a:extLst>
          </p:cNvPr>
          <p:cNvCxnSpPr/>
          <p:nvPr/>
        </p:nvCxnSpPr>
        <p:spPr>
          <a:xfrm flipV="1">
            <a:off x="7295342" y="3421916"/>
            <a:ext cx="1021344" cy="1677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36C26A2-4B3F-8A83-9E78-1A4FFDB02210}"/>
              </a:ext>
            </a:extLst>
          </p:cNvPr>
          <p:cNvSpPr/>
          <p:nvPr/>
        </p:nvSpPr>
        <p:spPr>
          <a:xfrm>
            <a:off x="8261794" y="2253252"/>
            <a:ext cx="1661118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첨단스마트산업공학과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38A6FDE-94A4-4974-0FFD-0A713CE990F1}"/>
              </a:ext>
            </a:extLst>
          </p:cNvPr>
          <p:cNvSpPr/>
          <p:nvPr/>
        </p:nvSpPr>
        <p:spPr>
          <a:xfrm>
            <a:off x="8326504" y="3321774"/>
            <a:ext cx="1596408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AI</a:t>
            </a:r>
            <a:r>
              <a:rPr lang="ko-KR" altLang="en-US" sz="1100" dirty="0"/>
              <a:t>컴퓨터공학부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89CC4A2-0B1F-920C-9CEC-BD1B4CA8A0B9}"/>
              </a:ext>
            </a:extLst>
          </p:cNvPr>
          <p:cNvSpPr/>
          <p:nvPr/>
        </p:nvSpPr>
        <p:spPr>
          <a:xfrm>
            <a:off x="8324756" y="2716559"/>
            <a:ext cx="1672684" cy="209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첨단에코에너지공학과</a:t>
            </a:r>
            <a:endParaRPr lang="ko-KR" altLang="en-US" sz="11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A49733F-103E-E8FF-2D27-4684D2B5C312}"/>
              </a:ext>
            </a:extLst>
          </p:cNvPr>
          <p:cNvSpPr/>
          <p:nvPr/>
        </p:nvSpPr>
        <p:spPr>
          <a:xfrm>
            <a:off x="1898466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원서접수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2878275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837892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858084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6B0045C1-0B67-97CE-8793-366B21F2DB1E}"/>
              </a:ext>
            </a:extLst>
          </p:cNvPr>
          <p:cNvSpPr/>
          <p:nvPr/>
        </p:nvSpPr>
        <p:spPr>
          <a:xfrm rot="20600249">
            <a:off x="9890112" y="1979649"/>
            <a:ext cx="676369" cy="166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44F7C1-540D-21DD-629D-19882DF47C2A}"/>
              </a:ext>
            </a:extLst>
          </p:cNvPr>
          <p:cNvSpPr txBox="1"/>
          <p:nvPr/>
        </p:nvSpPr>
        <p:spPr>
          <a:xfrm>
            <a:off x="10636598" y="1195198"/>
            <a:ext cx="12992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해당부분은 배너로 </a:t>
            </a:r>
            <a:r>
              <a:rPr lang="en-US" altLang="ko-KR" dirty="0"/>
              <a:t>2</a:t>
            </a:r>
            <a:r>
              <a:rPr lang="ko-KR" altLang="en-US" dirty="0"/>
              <a:t>초마다 돌아가게 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1638E983-2C33-E296-7602-9CC8A399A5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562" y="3567875"/>
            <a:ext cx="1295581" cy="314369"/>
          </a:xfrm>
          <a:prstGeom prst="rect">
            <a:avLst/>
          </a:prstGeom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3894F32B-C97B-C7A6-FDED-DD4FF8F1EB7B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6A0E668-1AB5-A1B9-4026-8E4CAB75E3EE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E262F3F1-CED3-E529-B36F-3CEBD2EF3DB7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EFCDF8A7-AC84-1B17-FC82-F1037B0942D8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908596EE-268E-C7EE-AC3D-6399608A422A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29E86BD-0A99-5198-22B4-97C8E2B94EEA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D21B4C65-21F6-ADA2-9907-2A2DAABB7B3E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B60F2A1-A86C-1DA1-4E99-1EC4C61EAF81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3286B1E-CD84-4404-52E2-2498EC23EDA1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6CEEAF70-0192-370F-BD8F-0213ADDBCD52}"/>
              </a:ext>
            </a:extLst>
          </p:cNvPr>
          <p:cNvSpPr/>
          <p:nvPr/>
        </p:nvSpPr>
        <p:spPr>
          <a:xfrm rot="21147985">
            <a:off x="9865190" y="4728775"/>
            <a:ext cx="676369" cy="166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C16D37-0283-6318-653C-F1DE7CC8D98E}"/>
              </a:ext>
            </a:extLst>
          </p:cNvPr>
          <p:cNvSpPr txBox="1"/>
          <p:nvPr/>
        </p:nvSpPr>
        <p:spPr>
          <a:xfrm>
            <a:off x="10606528" y="3733764"/>
            <a:ext cx="1585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눈에 잘 띄게 반짝반짝 하거나 </a:t>
            </a:r>
            <a:endParaRPr lang="en-US" altLang="ko-KR" dirty="0"/>
          </a:p>
          <a:p>
            <a:r>
              <a:rPr lang="ko-KR" altLang="en-US" dirty="0"/>
              <a:t>강조되는 효과가 있으면 좋겠습니다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449D2EB-9089-577C-BD86-7EDBE0DEDE29}"/>
              </a:ext>
            </a:extLst>
          </p:cNvPr>
          <p:cNvSpPr/>
          <p:nvPr/>
        </p:nvSpPr>
        <p:spPr>
          <a:xfrm>
            <a:off x="3487096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서류도착확인</a:t>
            </a:r>
            <a:endParaRPr lang="en-US" altLang="ko-KR" sz="1600" dirty="0"/>
          </a:p>
          <a:p>
            <a:pPr algn="ctr"/>
            <a:r>
              <a:rPr lang="en-US" altLang="ko-KR" sz="1050" dirty="0"/>
              <a:t>[09.28.(</a:t>
            </a:r>
            <a:r>
              <a:rPr lang="ko-KR" altLang="en-US" sz="1050" dirty="0"/>
              <a:t>월</a:t>
            </a:r>
            <a:r>
              <a:rPr lang="en-US" altLang="ko-KR" sz="1050" dirty="0"/>
              <a:t>) </a:t>
            </a:r>
            <a:r>
              <a:rPr lang="ko-KR" altLang="en-US" sz="1050" dirty="0"/>
              <a:t>오픈</a:t>
            </a:r>
            <a:r>
              <a:rPr lang="en-US" altLang="ko-KR" sz="1050" dirty="0"/>
              <a:t>]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5931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아주대 </a:t>
            </a:r>
            <a:r>
              <a:rPr lang="ko-KR" altLang="en-US" dirty="0" err="1"/>
              <a:t>인트로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35EC2D-0884-2317-F3B3-5E836046D33C}"/>
              </a:ext>
            </a:extLst>
          </p:cNvPr>
          <p:cNvSpPr/>
          <p:nvPr/>
        </p:nvSpPr>
        <p:spPr>
          <a:xfrm>
            <a:off x="5947286" y="172948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8876" y="1854926"/>
            <a:ext cx="372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아주대학교 수시모집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C6E4A-973B-185D-9E19-422645D7D698}"/>
              </a:ext>
            </a:extLst>
          </p:cNvPr>
          <p:cNvSpPr txBox="1"/>
          <p:nvPr/>
        </p:nvSpPr>
        <p:spPr>
          <a:xfrm>
            <a:off x="1831185" y="3153345"/>
            <a:ext cx="401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원서접수기간</a:t>
            </a:r>
            <a:r>
              <a:rPr lang="en-US" altLang="ko-KR" sz="1000" dirty="0"/>
              <a:t>: 2026.09.07.(</a:t>
            </a:r>
            <a:r>
              <a:rPr lang="ko-KR" altLang="en-US" sz="1000" dirty="0"/>
              <a:t>월</a:t>
            </a:r>
            <a:r>
              <a:rPr lang="en-US" altLang="ko-KR" sz="1000" dirty="0"/>
              <a:t>) 09:00~09.11.(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2026.09.15.(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학교장추천 대상자 입력</a:t>
            </a:r>
            <a:r>
              <a:rPr lang="en-US" altLang="ko-KR" sz="1000" dirty="0"/>
              <a:t>: 2026.09.14.(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09:00~09.18.(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A49733F-103E-E8FF-2D27-4684D2B5C312}"/>
              </a:ext>
            </a:extLst>
          </p:cNvPr>
          <p:cNvSpPr/>
          <p:nvPr/>
        </p:nvSpPr>
        <p:spPr>
          <a:xfrm>
            <a:off x="1898466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원서접수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2878275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3886B55-99CD-76B8-2575-0CAF87B76DB5}"/>
              </a:ext>
            </a:extLst>
          </p:cNvPr>
          <p:cNvSpPr/>
          <p:nvPr/>
        </p:nvSpPr>
        <p:spPr>
          <a:xfrm>
            <a:off x="1831185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학교장추천 대상자</a:t>
            </a:r>
            <a:endParaRPr lang="en-US" altLang="ko-KR" sz="1200" dirty="0"/>
          </a:p>
          <a:p>
            <a:pPr algn="ctr"/>
            <a:r>
              <a:rPr lang="ko-KR" altLang="en-US" sz="1200" dirty="0"/>
              <a:t>입력방법 안내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F89617C-DFE8-6643-AD5B-4BE000343A97}"/>
              </a:ext>
            </a:extLst>
          </p:cNvPr>
          <p:cNvSpPr/>
          <p:nvPr/>
        </p:nvSpPr>
        <p:spPr>
          <a:xfrm>
            <a:off x="845483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4D556B-E6A6-DB9B-C129-8BF6809F338D}"/>
              </a:ext>
            </a:extLst>
          </p:cNvPr>
          <p:cNvSpPr/>
          <p:nvPr/>
        </p:nvSpPr>
        <p:spPr>
          <a:xfrm>
            <a:off x="5143007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DEE81485-6D31-73BE-AFD8-D9AD55825F24}"/>
              </a:ext>
            </a:extLst>
          </p:cNvPr>
          <p:cNvSpPr/>
          <p:nvPr/>
        </p:nvSpPr>
        <p:spPr>
          <a:xfrm>
            <a:off x="6798918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F7CEE80-011B-2E8A-B5EB-28018FDE9E25}"/>
              </a:ext>
            </a:extLst>
          </p:cNvPr>
          <p:cNvSpPr/>
          <p:nvPr/>
        </p:nvSpPr>
        <p:spPr>
          <a:xfrm>
            <a:off x="3487096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서류도착확인</a:t>
            </a:r>
            <a:endParaRPr lang="en-US" altLang="ko-KR" sz="1600" dirty="0"/>
          </a:p>
          <a:p>
            <a:pPr algn="ctr"/>
            <a:r>
              <a:rPr lang="en-US" altLang="ko-KR" sz="1050" dirty="0"/>
              <a:t>[09.28.(</a:t>
            </a:r>
            <a:r>
              <a:rPr lang="ko-KR" altLang="en-US" sz="1050" dirty="0"/>
              <a:t>월</a:t>
            </a:r>
            <a:r>
              <a:rPr lang="en-US" altLang="ko-KR" sz="1050" dirty="0"/>
              <a:t>) </a:t>
            </a:r>
            <a:r>
              <a:rPr lang="ko-KR" altLang="en-US" sz="1050" dirty="0"/>
              <a:t>오픈</a:t>
            </a:r>
            <a:r>
              <a:rPr lang="en-US" altLang="ko-KR" sz="1050" dirty="0"/>
              <a:t>]</a:t>
            </a:r>
            <a:endParaRPr lang="ko-KR" altLang="en-US" sz="1050" dirty="0"/>
          </a:p>
        </p:txBody>
      </p:sp>
      <p:pic>
        <p:nvPicPr>
          <p:cNvPr id="70" name="Picture 2">
            <a:extLst>
              <a:ext uri="{FF2B5EF4-FFF2-40B4-BE49-F238E27FC236}">
                <a16:creationId xmlns:a16="http://schemas.microsoft.com/office/drawing/2014/main" id="{4BB61100-0A59-F503-3E1F-30B0C90FFD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0" t="17646" r="12368" b="36809"/>
          <a:stretch/>
        </p:blipFill>
        <p:spPr bwMode="auto">
          <a:xfrm>
            <a:off x="6584180" y="1773135"/>
            <a:ext cx="2436152" cy="205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28BA0DD-C3A8-E45B-794C-0FABC2B497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9583" y="3568665"/>
            <a:ext cx="1295581" cy="314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A74C28-5A1E-E651-C6F7-A5BE6D4060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0670" y="3663194"/>
            <a:ext cx="676369" cy="209579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F018EF58-3591-1BA5-2451-7AF805D40607}"/>
              </a:ext>
            </a:extLst>
          </p:cNvPr>
          <p:cNvSpPr/>
          <p:nvPr/>
        </p:nvSpPr>
        <p:spPr>
          <a:xfrm>
            <a:off x="4837892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C8928FD-8C13-ABE2-BC9C-8F1F11149DD0}"/>
              </a:ext>
            </a:extLst>
          </p:cNvPr>
          <p:cNvSpPr/>
          <p:nvPr/>
        </p:nvSpPr>
        <p:spPr>
          <a:xfrm>
            <a:off x="3858084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</p:spTree>
    <p:extLst>
      <p:ext uri="{BB962C8B-B14F-4D97-AF65-F5344CB8AC3E}">
        <p14:creationId xmlns:p14="http://schemas.microsoft.com/office/powerpoint/2010/main" val="319378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554173"/>
            <a:ext cx="10515600" cy="127580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원서접수 바로가기</a:t>
            </a:r>
            <a:r>
              <a:rPr lang="en-US" altLang="ko-KR" sz="2000" dirty="0">
                <a:solidFill>
                  <a:srgbClr val="FF0000"/>
                </a:solidFill>
              </a:rPr>
              <a:t>  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2117361"/>
            <a:ext cx="10515600" cy="1275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원서 기재사항 수정요청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(</a:t>
            </a:r>
            <a:r>
              <a:rPr lang="ko-KR" altLang="en-US" sz="2000" dirty="0">
                <a:solidFill>
                  <a:srgbClr val="FF0000"/>
                </a:solidFill>
              </a:rPr>
              <a:t>공지사항 안내 글 업로드 필요 </a:t>
            </a:r>
            <a:r>
              <a:rPr lang="en-US" altLang="ko-KR" sz="2000" dirty="0">
                <a:solidFill>
                  <a:srgbClr val="FF0000"/>
                </a:solidFill>
              </a:rPr>
              <a:t>– </a:t>
            </a:r>
            <a:r>
              <a:rPr lang="ko-KR" altLang="en-US" sz="2000" dirty="0">
                <a:solidFill>
                  <a:srgbClr val="FF0000"/>
                </a:solidFill>
              </a:rPr>
              <a:t>서식자료 가서 해라 라는 안내 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EB08AF1-D218-D609-B377-D7F242848E67}"/>
              </a:ext>
            </a:extLst>
          </p:cNvPr>
          <p:cNvSpPr txBox="1">
            <a:spLocks/>
          </p:cNvSpPr>
          <p:nvPr/>
        </p:nvSpPr>
        <p:spPr>
          <a:xfrm>
            <a:off x="341811" y="5377544"/>
            <a:ext cx="10515600" cy="1275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수시 모집요강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https://www.iajou.ac.kr/mojib/?m_type=SUSI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0905FA8-F2CD-281B-787F-F0EBF38202AB}"/>
              </a:ext>
            </a:extLst>
          </p:cNvPr>
          <p:cNvSpPr txBox="1">
            <a:spLocks/>
          </p:cNvSpPr>
          <p:nvPr/>
        </p:nvSpPr>
        <p:spPr>
          <a:xfrm>
            <a:off x="341811" y="3596633"/>
            <a:ext cx="10515600" cy="1275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지원현황 바로가기 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경쟁률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91470-74A9-A18D-07B0-B8A04D2C17F3}"/>
              </a:ext>
            </a:extLst>
          </p:cNvPr>
          <p:cNvSpPr txBox="1"/>
          <p:nvPr/>
        </p:nvSpPr>
        <p:spPr>
          <a:xfrm>
            <a:off x="341811" y="139337"/>
            <a:ext cx="3516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상단 좌측 공지 부분</a:t>
            </a:r>
          </a:p>
        </p:txBody>
      </p:sp>
    </p:spTree>
    <p:extLst>
      <p:ext uri="{BB962C8B-B14F-4D97-AF65-F5344CB8AC3E}">
        <p14:creationId xmlns:p14="http://schemas.microsoft.com/office/powerpoint/2010/main" val="269176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632546"/>
            <a:ext cx="10515600" cy="127580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첨단학과 부분</a:t>
            </a:r>
            <a:r>
              <a:rPr lang="en-US" altLang="ko-KR" sz="2000" dirty="0"/>
              <a:t>  </a:t>
            </a:r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https://youtu.be/PfsDBq5jsw4?si=4sc_rur83wfwjMMt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1951895"/>
            <a:ext cx="10515600" cy="1275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AI </a:t>
            </a:r>
            <a:r>
              <a:rPr lang="ko-KR" altLang="en-US" sz="2000" dirty="0" err="1"/>
              <a:t>대학어디가</a:t>
            </a:r>
            <a:r>
              <a:rPr lang="ko-KR" altLang="en-US" sz="2000" dirty="0"/>
              <a:t> 부분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https://ajouchat.shop/sign-in</a:t>
            </a:r>
          </a:p>
          <a:p>
            <a:endParaRPr lang="en-US" altLang="ko-KR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1E442-F5D0-A667-E1D3-1D71E5FF91A5}"/>
              </a:ext>
            </a:extLst>
          </p:cNvPr>
          <p:cNvSpPr txBox="1"/>
          <p:nvPr/>
        </p:nvSpPr>
        <p:spPr>
          <a:xfrm>
            <a:off x="341811" y="139337"/>
            <a:ext cx="3516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상단 우측 배너 부분</a:t>
            </a:r>
          </a:p>
        </p:txBody>
      </p:sp>
    </p:spTree>
    <p:extLst>
      <p:ext uri="{BB962C8B-B14F-4D97-AF65-F5344CB8AC3E}">
        <p14:creationId xmlns:p14="http://schemas.microsoft.com/office/powerpoint/2010/main" val="330382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31655"/>
            <a:ext cx="10515600" cy="1296402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/>
              <a:t>학교장 추천 대상자 입력방법 안내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링크</a:t>
            </a:r>
            <a:r>
              <a:rPr lang="en-US" altLang="ko-KR" sz="2000" dirty="0"/>
              <a:t>: https://www.iajou.ac.kr/notice/view.php?bn=77429&amp;m_type=SUSI&amp;nPage=1&amp;f=ALL&amp;s=%EC%B6%94%EC%B2%9C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1328057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서류도착 확인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en-US" altLang="ko-KR" sz="2000" dirty="0"/>
              <a:t>09.28.(</a:t>
            </a:r>
            <a:r>
              <a:rPr lang="ko-KR" altLang="en-US" sz="2000" dirty="0"/>
              <a:t>월</a:t>
            </a:r>
            <a:r>
              <a:rPr lang="en-US" altLang="ko-KR" sz="2000" dirty="0"/>
              <a:t>) </a:t>
            </a:r>
            <a:r>
              <a:rPr lang="ko-KR" altLang="en-US" sz="2000" dirty="0" err="1"/>
              <a:t>공지예정이므로</a:t>
            </a:r>
            <a:r>
              <a:rPr lang="ko-KR" altLang="en-US" sz="2000" dirty="0"/>
              <a:t> 그전에는 </a:t>
            </a:r>
            <a:r>
              <a:rPr lang="ko-KR" altLang="en-US" sz="2000" dirty="0" err="1"/>
              <a:t>알럿창으로</a:t>
            </a:r>
            <a:r>
              <a:rPr lang="ko-KR" altLang="en-US" sz="2000" dirty="0"/>
              <a:t> </a:t>
            </a:r>
            <a:r>
              <a:rPr lang="en-US" altLang="ko-KR" sz="2000" dirty="0"/>
              <a:t>“</a:t>
            </a:r>
            <a:r>
              <a:rPr lang="ko-KR" altLang="en-US" sz="2000" dirty="0"/>
              <a:t>준비중입니다</a:t>
            </a:r>
            <a:r>
              <a:rPr lang="en-US" altLang="ko-KR" sz="2000" dirty="0"/>
              <a:t>.”, </a:t>
            </a:r>
            <a:r>
              <a:rPr lang="ko-KR" altLang="en-US" sz="2000" dirty="0"/>
              <a:t>이후 해당일 </a:t>
            </a:r>
            <a:r>
              <a:rPr lang="en-US" altLang="ko-KR" sz="2000" dirty="0"/>
              <a:t>10:00</a:t>
            </a:r>
            <a:r>
              <a:rPr lang="ko-KR" altLang="en-US" sz="2000" dirty="0"/>
              <a:t>부터 </a:t>
            </a:r>
            <a:r>
              <a:rPr lang="ko-KR" altLang="en-US" sz="2000" dirty="0" err="1"/>
              <a:t>오픈되도록</a:t>
            </a:r>
            <a:r>
              <a:rPr lang="ko-KR" altLang="en-US" sz="2000" dirty="0"/>
              <a:t> 해주세요</a:t>
            </a:r>
            <a:r>
              <a:rPr lang="en-US" altLang="ko-KR" sz="2000" dirty="0"/>
              <a:t>.)</a:t>
            </a:r>
            <a:endParaRPr lang="ko-KR" altLang="en-US" sz="2000" dirty="0"/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D55E87-0740-32F2-50FB-F445872A6641}"/>
              </a:ext>
            </a:extLst>
          </p:cNvPr>
          <p:cNvSpPr txBox="1">
            <a:spLocks/>
          </p:cNvSpPr>
          <p:nvPr/>
        </p:nvSpPr>
        <p:spPr>
          <a:xfrm>
            <a:off x="341811" y="2763799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입시결과 안내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https://www.iajou.ac.kr/rate/?m_type=SUSI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D87AE7D-9361-DE27-1BA7-20FC88C91258}"/>
              </a:ext>
            </a:extLst>
          </p:cNvPr>
          <p:cNvSpPr txBox="1">
            <a:spLocks/>
          </p:cNvSpPr>
          <p:nvPr/>
        </p:nvSpPr>
        <p:spPr>
          <a:xfrm>
            <a:off x="341811" y="3920861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학생부 환산점수 계산기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https://www.iajou.ac.kr/notice/view.php?bn=78541&amp;m_type=SUSI&amp;nPage=0&amp;f=&amp;s=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212BDA3-4615-18C4-2F8F-1772123CC752}"/>
              </a:ext>
            </a:extLst>
          </p:cNvPr>
          <p:cNvSpPr txBox="1">
            <a:spLocks/>
          </p:cNvSpPr>
          <p:nvPr/>
        </p:nvSpPr>
        <p:spPr>
          <a:xfrm>
            <a:off x="341811" y="5217263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입학상담솔루션 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https://consult.mncapro.co.kr/solution/ajou/index.php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675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212BDA3-4615-18C4-2F8F-1772123CC752}"/>
              </a:ext>
            </a:extLst>
          </p:cNvPr>
          <p:cNvSpPr txBox="1">
            <a:spLocks/>
          </p:cNvSpPr>
          <p:nvPr/>
        </p:nvSpPr>
        <p:spPr>
          <a:xfrm>
            <a:off x="968828" y="2780799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AI</a:t>
            </a:r>
            <a:r>
              <a:rPr lang="ko-KR" altLang="en-US" sz="2000" dirty="0" err="1"/>
              <a:t>대학어디가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https://ajouchat.shop/sign-in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785C750-41AD-6A48-CC02-2B1947ECDC5A}"/>
              </a:ext>
            </a:extLst>
          </p:cNvPr>
          <p:cNvSpPr txBox="1">
            <a:spLocks/>
          </p:cNvSpPr>
          <p:nvPr/>
        </p:nvSpPr>
        <p:spPr>
          <a:xfrm>
            <a:off x="6226628" y="2780799"/>
            <a:ext cx="5022668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solidFill>
                  <a:srgbClr val="FF0000"/>
                </a:solidFill>
              </a:rPr>
              <a:t>2027</a:t>
            </a:r>
            <a:r>
              <a:rPr lang="ko-KR" altLang="en-US" sz="2000" dirty="0">
                <a:solidFill>
                  <a:srgbClr val="FF0000"/>
                </a:solidFill>
              </a:rPr>
              <a:t>학년도 모의논술 안내 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공지사항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22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31655"/>
            <a:ext cx="10515600" cy="129640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2027</a:t>
            </a:r>
            <a:r>
              <a:rPr lang="ko-KR" altLang="en-US" sz="2000" dirty="0"/>
              <a:t>학년도 수시모집 전형안내 영상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링크</a:t>
            </a:r>
            <a:r>
              <a:rPr lang="en-US" altLang="ko-KR" sz="2000" dirty="0"/>
              <a:t>: https://youtu.be/mOTsQSYSfcQ?si=Snc_RH_JW6hehlsD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962297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아주대학교 첨단학과 안내</a:t>
            </a:r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https://www.iajou.ac.kr/_common/pdf_viewer.php?m_type=enterinfo&amp;e_no=29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D55E87-0740-32F2-50FB-F445872A6641}"/>
              </a:ext>
            </a:extLst>
          </p:cNvPr>
          <p:cNvSpPr txBox="1">
            <a:spLocks/>
          </p:cNvSpPr>
          <p:nvPr/>
        </p:nvSpPr>
        <p:spPr>
          <a:xfrm>
            <a:off x="341811" y="3364685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2027</a:t>
            </a:r>
            <a:r>
              <a:rPr lang="ko-KR" altLang="en-US" sz="2000" dirty="0"/>
              <a:t>학년도 논술자료집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https://www.iajou.ac.kr/_common/pdf_viewer.php?m_type=enterinfo&amp;e_no=28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D87AE7D-9361-DE27-1BA7-20FC88C91258}"/>
              </a:ext>
            </a:extLst>
          </p:cNvPr>
          <p:cNvSpPr txBox="1">
            <a:spLocks/>
          </p:cNvSpPr>
          <p:nvPr/>
        </p:nvSpPr>
        <p:spPr>
          <a:xfrm>
            <a:off x="341811" y="4530811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모의논술 설명회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자연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80CDD50-6734-22B1-16A7-4BB00B029212}"/>
              </a:ext>
            </a:extLst>
          </p:cNvPr>
          <p:cNvSpPr txBox="1">
            <a:spLocks/>
          </p:cNvSpPr>
          <p:nvPr/>
        </p:nvSpPr>
        <p:spPr>
          <a:xfrm>
            <a:off x="341811" y="5530766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모의논술 설명회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인문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1CE489-74D1-1F06-78CC-A9944827902F}"/>
              </a:ext>
            </a:extLst>
          </p:cNvPr>
          <p:cNvSpPr txBox="1">
            <a:spLocks/>
          </p:cNvSpPr>
          <p:nvPr/>
        </p:nvSpPr>
        <p:spPr>
          <a:xfrm>
            <a:off x="341811" y="1976836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학과별 홈페이지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https://ajou.ac.kr/kr/admission/list01.do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6013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09.11.(</a:t>
            </a:r>
            <a:r>
              <a:rPr lang="ko-KR" altLang="en-US" dirty="0"/>
              <a:t>금</a:t>
            </a:r>
            <a:r>
              <a:rPr lang="en-US" altLang="ko-KR" dirty="0"/>
              <a:t>) 18:00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35EC2D-0884-2317-F3B3-5E836046D33C}"/>
              </a:ext>
            </a:extLst>
          </p:cNvPr>
          <p:cNvSpPr/>
          <p:nvPr/>
        </p:nvSpPr>
        <p:spPr>
          <a:xfrm>
            <a:off x="5947286" y="172948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5885" y="175041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</a:t>
            </a:r>
            <a:endParaRPr lang="en-US" altLang="ko-KR" dirty="0"/>
          </a:p>
          <a:p>
            <a:r>
              <a:rPr lang="ko-KR" altLang="en-US" dirty="0"/>
              <a:t>수시모집 원서접수 마감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C6E4A-973B-185D-9E19-422645D7D698}"/>
              </a:ext>
            </a:extLst>
          </p:cNvPr>
          <p:cNvSpPr txBox="1"/>
          <p:nvPr/>
        </p:nvSpPr>
        <p:spPr>
          <a:xfrm>
            <a:off x="1831185" y="3318810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※ </a:t>
            </a:r>
            <a:r>
              <a:rPr lang="ko-KR" altLang="en-US" sz="1000" dirty="0">
                <a:solidFill>
                  <a:srgbClr val="00B050"/>
                </a:solidFill>
              </a:rPr>
              <a:t>서류제출</a:t>
            </a:r>
            <a:r>
              <a:rPr lang="en-US" altLang="ko-KR" sz="1000" dirty="0">
                <a:solidFill>
                  <a:srgbClr val="00B050"/>
                </a:solidFill>
              </a:rPr>
              <a:t>: 2026.09.15.(</a:t>
            </a:r>
            <a:r>
              <a:rPr lang="ko-KR" altLang="en-US" sz="1000" dirty="0">
                <a:solidFill>
                  <a:srgbClr val="00B050"/>
                </a:solidFill>
              </a:rPr>
              <a:t>화</a:t>
            </a:r>
            <a:r>
              <a:rPr lang="en-US" altLang="ko-KR" sz="1000" dirty="0">
                <a:solidFill>
                  <a:srgbClr val="00B050"/>
                </a:solidFill>
              </a:rPr>
              <a:t>)</a:t>
            </a:r>
            <a:r>
              <a:rPr lang="ko-KR" altLang="en-US" sz="1000" dirty="0">
                <a:solidFill>
                  <a:srgbClr val="00B050"/>
                </a:solidFill>
              </a:rPr>
              <a:t>까지</a:t>
            </a:r>
            <a:endParaRPr lang="en-US" altLang="ko-KR" sz="1000" dirty="0">
              <a:solidFill>
                <a:srgbClr val="00B050"/>
              </a:solidFill>
            </a:endParaRPr>
          </a:p>
          <a:p>
            <a:r>
              <a:rPr lang="en-US" altLang="ko-KR" sz="1000" dirty="0">
                <a:solidFill>
                  <a:srgbClr val="00B050"/>
                </a:solidFill>
              </a:rPr>
              <a:t>                [</a:t>
            </a:r>
            <a:r>
              <a:rPr lang="ko-KR" altLang="en-US" sz="1000" dirty="0">
                <a:solidFill>
                  <a:srgbClr val="00B050"/>
                </a:solidFill>
              </a:rPr>
              <a:t>마감일 우체국 소인분까지 인정</a:t>
            </a:r>
            <a:r>
              <a:rPr lang="en-US" altLang="ko-KR" sz="1000" dirty="0">
                <a:solidFill>
                  <a:srgbClr val="00B050"/>
                </a:solidFill>
              </a:rPr>
              <a:t>(</a:t>
            </a:r>
            <a:r>
              <a:rPr lang="ko-KR" altLang="en-US" sz="1000" dirty="0">
                <a:solidFill>
                  <a:srgbClr val="00B050"/>
                </a:solidFill>
              </a:rPr>
              <a:t>등기우편</a:t>
            </a:r>
            <a:r>
              <a:rPr lang="en-US" altLang="ko-KR" sz="1000" dirty="0">
                <a:solidFill>
                  <a:srgbClr val="00B050"/>
                </a:solidFill>
              </a:rPr>
              <a:t>, </a:t>
            </a:r>
            <a:r>
              <a:rPr lang="ko-KR" altLang="en-US" sz="1000" dirty="0">
                <a:solidFill>
                  <a:srgbClr val="00B050"/>
                </a:solidFill>
              </a:rPr>
              <a:t>택배</a:t>
            </a:r>
            <a:r>
              <a:rPr lang="en-US" altLang="ko-KR" sz="1000" dirty="0">
                <a:solidFill>
                  <a:srgbClr val="00B050"/>
                </a:solidFill>
              </a:rPr>
              <a:t>)]</a:t>
            </a:r>
          </a:p>
          <a:p>
            <a:r>
              <a:rPr lang="en-US" altLang="ko-KR" sz="1000" dirty="0">
                <a:solidFill>
                  <a:srgbClr val="00B050"/>
                </a:solidFill>
              </a:rPr>
              <a:t>※ </a:t>
            </a:r>
            <a:r>
              <a:rPr lang="ko-KR" altLang="en-US" sz="1000" dirty="0">
                <a:solidFill>
                  <a:srgbClr val="00B050"/>
                </a:solidFill>
              </a:rPr>
              <a:t>학교장추천 대상자 입력</a:t>
            </a:r>
            <a:r>
              <a:rPr lang="en-US" altLang="ko-KR" sz="1000" dirty="0">
                <a:solidFill>
                  <a:srgbClr val="00B050"/>
                </a:solidFill>
              </a:rPr>
              <a:t>: 2026.09.14.(</a:t>
            </a:r>
            <a:r>
              <a:rPr lang="ko-KR" altLang="en-US" sz="1000" dirty="0">
                <a:solidFill>
                  <a:srgbClr val="00B050"/>
                </a:solidFill>
              </a:rPr>
              <a:t>월</a:t>
            </a:r>
            <a:r>
              <a:rPr lang="en-US" altLang="ko-KR" sz="1000" dirty="0">
                <a:solidFill>
                  <a:srgbClr val="00B050"/>
                </a:solidFill>
              </a:rPr>
              <a:t>)</a:t>
            </a:r>
            <a:r>
              <a:rPr lang="ko-KR" altLang="en-US" sz="1000" dirty="0">
                <a:solidFill>
                  <a:srgbClr val="00B050"/>
                </a:solidFill>
              </a:rPr>
              <a:t> </a:t>
            </a:r>
            <a:r>
              <a:rPr lang="en-US" altLang="ko-KR" sz="1000" dirty="0">
                <a:solidFill>
                  <a:srgbClr val="00B050"/>
                </a:solidFill>
              </a:rPr>
              <a:t>09:00~09.18.(</a:t>
            </a:r>
            <a:r>
              <a:rPr lang="ko-KR" altLang="en-US" sz="1000" dirty="0">
                <a:solidFill>
                  <a:srgbClr val="00B050"/>
                </a:solidFill>
              </a:rPr>
              <a:t>금</a:t>
            </a:r>
            <a:r>
              <a:rPr lang="en-US" altLang="ko-KR" sz="1000" dirty="0">
                <a:solidFill>
                  <a:srgbClr val="00B050"/>
                </a:solidFill>
              </a:rPr>
              <a:t>) 18:00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1894199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620175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257187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3886B55-99CD-76B8-2575-0CAF87B76DB5}"/>
              </a:ext>
            </a:extLst>
          </p:cNvPr>
          <p:cNvSpPr/>
          <p:nvPr/>
        </p:nvSpPr>
        <p:spPr>
          <a:xfrm>
            <a:off x="1831185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학교장추천 대상자</a:t>
            </a:r>
            <a:endParaRPr lang="en-US" altLang="ko-KR" sz="1200" dirty="0"/>
          </a:p>
          <a:p>
            <a:pPr algn="ctr"/>
            <a:r>
              <a:rPr lang="ko-KR" altLang="en-US" sz="1200" dirty="0"/>
              <a:t>입력방법 안내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F89617C-DFE8-6643-AD5B-4BE000343A97}"/>
              </a:ext>
            </a:extLst>
          </p:cNvPr>
          <p:cNvSpPr/>
          <p:nvPr/>
        </p:nvSpPr>
        <p:spPr>
          <a:xfrm>
            <a:off x="845483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4D556B-E6A6-DB9B-C129-8BF6809F338D}"/>
              </a:ext>
            </a:extLst>
          </p:cNvPr>
          <p:cNvSpPr/>
          <p:nvPr/>
        </p:nvSpPr>
        <p:spPr>
          <a:xfrm>
            <a:off x="5143007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DEE81485-6D31-73BE-AFD8-D9AD55825F24}"/>
              </a:ext>
            </a:extLst>
          </p:cNvPr>
          <p:cNvSpPr/>
          <p:nvPr/>
        </p:nvSpPr>
        <p:spPr>
          <a:xfrm>
            <a:off x="6798918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F7CEE80-011B-2E8A-B5EB-28018FDE9E25}"/>
              </a:ext>
            </a:extLst>
          </p:cNvPr>
          <p:cNvSpPr/>
          <p:nvPr/>
        </p:nvSpPr>
        <p:spPr>
          <a:xfrm>
            <a:off x="3487096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서류도착확인</a:t>
            </a:r>
            <a:endParaRPr lang="en-US" altLang="ko-KR" sz="1600" dirty="0"/>
          </a:p>
          <a:p>
            <a:pPr algn="ctr"/>
            <a:r>
              <a:rPr lang="en-US" altLang="ko-KR" sz="1050" dirty="0"/>
              <a:t>[09.28.(</a:t>
            </a:r>
            <a:r>
              <a:rPr lang="ko-KR" altLang="en-US" sz="1050" dirty="0"/>
              <a:t>월</a:t>
            </a:r>
            <a:r>
              <a:rPr lang="en-US" altLang="ko-KR" sz="1050" dirty="0"/>
              <a:t>) </a:t>
            </a:r>
            <a:r>
              <a:rPr lang="ko-KR" altLang="en-US" sz="1050" dirty="0"/>
              <a:t>오픈</a:t>
            </a:r>
            <a:r>
              <a:rPr lang="en-US" altLang="ko-KR" sz="1050" dirty="0"/>
              <a:t>]</a:t>
            </a:r>
            <a:endParaRPr lang="ko-KR" altLang="en-US" sz="1050" dirty="0"/>
          </a:p>
        </p:txBody>
      </p:sp>
      <p:pic>
        <p:nvPicPr>
          <p:cNvPr id="70" name="Picture 2">
            <a:extLst>
              <a:ext uri="{FF2B5EF4-FFF2-40B4-BE49-F238E27FC236}">
                <a16:creationId xmlns:a16="http://schemas.microsoft.com/office/drawing/2014/main" id="{4BB61100-0A59-F503-3E1F-30B0C90FFD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0" t="17646" r="12368" b="36809"/>
          <a:stretch/>
        </p:blipFill>
        <p:spPr bwMode="auto">
          <a:xfrm>
            <a:off x="6584180" y="1773135"/>
            <a:ext cx="2436152" cy="205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28BA0DD-C3A8-E45B-794C-0FABC2B497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9583" y="3568665"/>
            <a:ext cx="1295581" cy="314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A74C28-5A1E-E651-C6F7-A5BE6D4060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0670" y="3663194"/>
            <a:ext cx="676369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6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09.28.(</a:t>
            </a:r>
            <a:r>
              <a:rPr lang="ko-KR" altLang="en-US" dirty="0"/>
              <a:t>월</a:t>
            </a:r>
            <a:r>
              <a:rPr lang="en-US" altLang="ko-KR" dirty="0"/>
              <a:t>) 10:00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35EC2D-0884-2317-F3B3-5E836046D33C}"/>
              </a:ext>
            </a:extLst>
          </p:cNvPr>
          <p:cNvSpPr/>
          <p:nvPr/>
        </p:nvSpPr>
        <p:spPr>
          <a:xfrm>
            <a:off x="5947286" y="172948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5885" y="175041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</a:t>
            </a:r>
            <a:endParaRPr lang="en-US" altLang="ko-KR" dirty="0"/>
          </a:p>
          <a:p>
            <a:r>
              <a:rPr lang="ko-KR" altLang="en-US" dirty="0"/>
              <a:t>수시모집 원서접수 마감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C6E4A-973B-185D-9E19-422645D7D698}"/>
              </a:ext>
            </a:extLst>
          </p:cNvPr>
          <p:cNvSpPr txBox="1"/>
          <p:nvPr/>
        </p:nvSpPr>
        <p:spPr>
          <a:xfrm>
            <a:off x="1831185" y="3318810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2026.09.15.(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학교장추천 대상자 입력</a:t>
            </a:r>
            <a:r>
              <a:rPr lang="en-US" altLang="ko-KR" sz="1000" dirty="0"/>
              <a:t>: 2026.09.14.(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09:00~09.18.(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1894199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620175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257187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3886B55-99CD-76B8-2575-0CAF87B76DB5}"/>
              </a:ext>
            </a:extLst>
          </p:cNvPr>
          <p:cNvSpPr/>
          <p:nvPr/>
        </p:nvSpPr>
        <p:spPr>
          <a:xfrm>
            <a:off x="1831185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학교장추천 대상자</a:t>
            </a:r>
            <a:endParaRPr lang="en-US" altLang="ko-KR" sz="1200" dirty="0"/>
          </a:p>
          <a:p>
            <a:pPr algn="ctr"/>
            <a:r>
              <a:rPr lang="ko-KR" altLang="en-US" sz="1200" dirty="0"/>
              <a:t>입력방법 안내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F89617C-DFE8-6643-AD5B-4BE000343A97}"/>
              </a:ext>
            </a:extLst>
          </p:cNvPr>
          <p:cNvSpPr/>
          <p:nvPr/>
        </p:nvSpPr>
        <p:spPr>
          <a:xfrm>
            <a:off x="845483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4D556B-E6A6-DB9B-C129-8BF6809F338D}"/>
              </a:ext>
            </a:extLst>
          </p:cNvPr>
          <p:cNvSpPr/>
          <p:nvPr/>
        </p:nvSpPr>
        <p:spPr>
          <a:xfrm>
            <a:off x="5143007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DEE81485-6D31-73BE-AFD8-D9AD55825F24}"/>
              </a:ext>
            </a:extLst>
          </p:cNvPr>
          <p:cNvSpPr/>
          <p:nvPr/>
        </p:nvSpPr>
        <p:spPr>
          <a:xfrm>
            <a:off x="6798918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F7CEE80-011B-2E8A-B5EB-28018FDE9E25}"/>
              </a:ext>
            </a:extLst>
          </p:cNvPr>
          <p:cNvSpPr/>
          <p:nvPr/>
        </p:nvSpPr>
        <p:spPr>
          <a:xfrm>
            <a:off x="3487096" y="4005625"/>
            <a:ext cx="1585473" cy="5312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pic>
        <p:nvPicPr>
          <p:cNvPr id="70" name="Picture 2">
            <a:extLst>
              <a:ext uri="{FF2B5EF4-FFF2-40B4-BE49-F238E27FC236}">
                <a16:creationId xmlns:a16="http://schemas.microsoft.com/office/drawing/2014/main" id="{4BB61100-0A59-F503-3E1F-30B0C90FFD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0" t="17646" r="12368" b="36809"/>
          <a:stretch/>
        </p:blipFill>
        <p:spPr bwMode="auto">
          <a:xfrm>
            <a:off x="6584180" y="1773135"/>
            <a:ext cx="2436152" cy="205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28BA0DD-C3A8-E45B-794C-0FABC2B497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9583" y="3568665"/>
            <a:ext cx="1295581" cy="3143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A74C28-5A1E-E651-C6F7-A5BE6D4060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0670" y="3663194"/>
            <a:ext cx="676369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77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10.12.(</a:t>
            </a:r>
            <a:r>
              <a:rPr lang="ko-KR" altLang="en-US" dirty="0"/>
              <a:t>월</a:t>
            </a:r>
            <a:r>
              <a:rPr lang="en-US" altLang="ko-KR" dirty="0"/>
              <a:t>) 10:00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5885" y="175041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</a:t>
            </a:r>
            <a:endParaRPr lang="en-US" altLang="ko-KR" dirty="0"/>
          </a:p>
          <a:p>
            <a:r>
              <a:rPr lang="ko-KR" altLang="en-US" dirty="0"/>
              <a:t>수시모집 원서접수 마감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C6E4A-973B-185D-9E19-422645D7D698}"/>
              </a:ext>
            </a:extLst>
          </p:cNvPr>
          <p:cNvSpPr txBox="1"/>
          <p:nvPr/>
        </p:nvSpPr>
        <p:spPr>
          <a:xfrm>
            <a:off x="1831185" y="3318810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2026.09.15.(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학교장추천 대상자 입력</a:t>
            </a:r>
            <a:r>
              <a:rPr lang="en-US" altLang="ko-KR" sz="1000" dirty="0"/>
              <a:t>: 2026.09.14.(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09:00~09.18.(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1894199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620175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257187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3886B55-99CD-76B8-2575-0CAF87B76DB5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F89617C-DFE8-6643-AD5B-4BE000343A97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4D556B-E6A6-DB9B-C129-8BF6809F338D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DEE81485-6D31-73BE-AFD8-D9AD55825F24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F7CEE80-011B-2E8A-B5EB-28018FDE9E25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ko-KR" altLang="en-US" dirty="0"/>
              <a:t>실기</a:t>
            </a:r>
            <a:r>
              <a:rPr lang="en-US" altLang="ko-KR" dirty="0"/>
              <a:t>/</a:t>
            </a:r>
            <a:r>
              <a:rPr lang="ko-KR" altLang="en-US" dirty="0"/>
              <a:t>실적</a:t>
            </a:r>
            <a:r>
              <a:rPr lang="en-US" altLang="ko-KR" dirty="0"/>
              <a:t>(</a:t>
            </a:r>
            <a:r>
              <a:rPr lang="ko-KR" altLang="en-US" dirty="0"/>
              <a:t>체육우수자</a:t>
            </a:r>
            <a:r>
              <a:rPr lang="en-US" altLang="ko-KR" dirty="0"/>
              <a:t>(</a:t>
            </a:r>
            <a:r>
              <a:rPr lang="ko-KR" altLang="en-US" dirty="0"/>
              <a:t>축구</a:t>
            </a:r>
            <a:r>
              <a:rPr lang="en-US" altLang="ko-KR" dirty="0"/>
              <a:t>)</a:t>
            </a:r>
            <a:r>
              <a:rPr lang="ko-KR" altLang="en-US" dirty="0"/>
              <a:t>전형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20F4A-7F4B-B11A-1A37-980833B5B05C}"/>
              </a:ext>
            </a:extLst>
          </p:cNvPr>
          <p:cNvSpPr txBox="1"/>
          <p:nvPr/>
        </p:nvSpPr>
        <p:spPr>
          <a:xfrm>
            <a:off x="5990816" y="2441115"/>
            <a:ext cx="401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en-US" altLang="ko-KR" sz="1000" b="1" dirty="0"/>
              <a:t>2</a:t>
            </a:r>
            <a:r>
              <a:rPr lang="ko-KR" altLang="en-US" sz="1000" b="1" dirty="0"/>
              <a:t>단계 전형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실기평가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면접평가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 안내</a:t>
            </a:r>
            <a:r>
              <a:rPr lang="en-US" altLang="ko-KR" sz="1000" b="1" dirty="0"/>
              <a:t>:  2026.10.24.(</a:t>
            </a:r>
            <a:r>
              <a:rPr lang="ko-KR" altLang="en-US" sz="1000" b="1" dirty="0"/>
              <a:t>토</a:t>
            </a:r>
            <a:r>
              <a:rPr lang="en-US" altLang="ko-KR" sz="1000" b="1" dirty="0"/>
              <a:t>)</a:t>
            </a:r>
            <a:endParaRPr lang="ko-KR" altLang="en-US" sz="1000" b="1" dirty="0"/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2026.11.06.(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안내사항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최초합격자</a:t>
            </a:r>
            <a:endParaRPr lang="en-US" altLang="ko-KR" sz="1200" dirty="0"/>
          </a:p>
          <a:p>
            <a:pPr algn="ctr"/>
            <a:r>
              <a:rPr lang="ko-KR" altLang="en-US" sz="1200" dirty="0"/>
              <a:t>발표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97251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962297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안내사항 바로가기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 </a:t>
            </a:r>
            <a:r>
              <a:rPr lang="ko-KR" altLang="en-US" sz="2000" dirty="0">
                <a:solidFill>
                  <a:srgbClr val="FF0000"/>
                </a:solidFill>
              </a:rPr>
              <a:t>추후 </a:t>
            </a:r>
            <a:r>
              <a:rPr lang="en-US" altLang="ko-KR" sz="2000" dirty="0">
                <a:solidFill>
                  <a:srgbClr val="FF0000"/>
                </a:solidFill>
              </a:rPr>
              <a:t>10</a:t>
            </a:r>
            <a:r>
              <a:rPr lang="ko-KR" altLang="en-US" sz="2000" dirty="0">
                <a:solidFill>
                  <a:srgbClr val="FF0000"/>
                </a:solidFill>
              </a:rPr>
              <a:t>월 초 전달 예정</a:t>
            </a:r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1CE489-74D1-1F06-78CC-A9944827902F}"/>
              </a:ext>
            </a:extLst>
          </p:cNvPr>
          <p:cNvSpPr txBox="1">
            <a:spLocks/>
          </p:cNvSpPr>
          <p:nvPr/>
        </p:nvSpPr>
        <p:spPr>
          <a:xfrm>
            <a:off x="341811" y="2327189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최초합격자 발표 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 </a:t>
            </a:r>
            <a:r>
              <a:rPr lang="ko-KR" altLang="en-US" sz="2000" dirty="0">
                <a:solidFill>
                  <a:srgbClr val="FF0000"/>
                </a:solidFill>
              </a:rPr>
              <a:t>추후 </a:t>
            </a:r>
            <a:r>
              <a:rPr lang="en-US" altLang="ko-KR" sz="2000" dirty="0">
                <a:solidFill>
                  <a:srgbClr val="FF0000"/>
                </a:solidFill>
              </a:rPr>
              <a:t>10</a:t>
            </a:r>
            <a:r>
              <a:rPr lang="ko-KR" altLang="en-US" sz="2000" dirty="0">
                <a:solidFill>
                  <a:srgbClr val="FF0000"/>
                </a:solidFill>
              </a:rPr>
              <a:t>월 말 전달 예정 </a:t>
            </a:r>
            <a:r>
              <a:rPr lang="en-US" altLang="ko-KR" sz="2000" dirty="0">
                <a:solidFill>
                  <a:srgbClr val="FF0000"/>
                </a:solidFill>
              </a:rPr>
              <a:t>/  </a:t>
            </a:r>
            <a:r>
              <a:rPr lang="ko-KR" altLang="en-US" sz="2000" dirty="0">
                <a:solidFill>
                  <a:srgbClr val="FF0000"/>
                </a:solidFill>
              </a:rPr>
              <a:t>그 전까지는 </a:t>
            </a:r>
            <a:r>
              <a:rPr lang="en-US" altLang="ko-KR" sz="2000" dirty="0">
                <a:solidFill>
                  <a:srgbClr val="FF0000"/>
                </a:solidFill>
              </a:rPr>
              <a:t>“</a:t>
            </a:r>
            <a:r>
              <a:rPr lang="ko-KR" altLang="en-US" sz="2000" dirty="0">
                <a:solidFill>
                  <a:srgbClr val="FF0000"/>
                </a:solidFill>
              </a:rPr>
              <a:t>준비중 입니다</a:t>
            </a:r>
            <a:r>
              <a:rPr lang="en-US" altLang="ko-KR" sz="2000" dirty="0">
                <a:solidFill>
                  <a:srgbClr val="FF0000"/>
                </a:solidFill>
              </a:rPr>
              <a:t>.” </a:t>
            </a:r>
            <a:r>
              <a:rPr lang="ko-KR" altLang="en-US" sz="2000" dirty="0" err="1">
                <a:solidFill>
                  <a:srgbClr val="FF0000"/>
                </a:solidFill>
              </a:rPr>
              <a:t>알럿창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>
                <a:solidFill>
                  <a:srgbClr val="FF0000"/>
                </a:solidFill>
              </a:rPr>
              <a:t>11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6</a:t>
            </a:r>
            <a:r>
              <a:rPr lang="ko-KR" altLang="en-US" sz="2000" dirty="0">
                <a:solidFill>
                  <a:srgbClr val="FF0000"/>
                </a:solidFill>
              </a:rPr>
              <a:t>일 링크 연결 요청</a:t>
            </a:r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814AFC4-874F-EE8D-6F54-460ED5AC7564}"/>
              </a:ext>
            </a:extLst>
          </p:cNvPr>
          <p:cNvSpPr txBox="1">
            <a:spLocks/>
          </p:cNvSpPr>
          <p:nvPr/>
        </p:nvSpPr>
        <p:spPr>
          <a:xfrm>
            <a:off x="341811" y="4090675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정시 모집요강 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 </a:t>
            </a:r>
            <a:r>
              <a:rPr lang="ko-KR" altLang="en-US" sz="2000" dirty="0">
                <a:solidFill>
                  <a:srgbClr val="FF0000"/>
                </a:solidFill>
              </a:rPr>
              <a:t>추후 </a:t>
            </a:r>
            <a:r>
              <a:rPr lang="en-US" altLang="ko-KR" sz="2000" dirty="0">
                <a:solidFill>
                  <a:srgbClr val="FF0000"/>
                </a:solidFill>
              </a:rPr>
              <a:t>10</a:t>
            </a:r>
            <a:r>
              <a:rPr lang="ko-KR" altLang="en-US" sz="2000" dirty="0">
                <a:solidFill>
                  <a:srgbClr val="FF0000"/>
                </a:solidFill>
              </a:rPr>
              <a:t>월 초 전달 예정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6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10.26.(</a:t>
            </a:r>
            <a:r>
              <a:rPr lang="ko-KR" altLang="en-US" dirty="0"/>
              <a:t>월</a:t>
            </a:r>
            <a:r>
              <a:rPr lang="en-US" altLang="ko-KR" dirty="0"/>
              <a:t>) 10:00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5885" y="175041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</a:t>
            </a:r>
            <a:endParaRPr lang="en-US" altLang="ko-KR" dirty="0"/>
          </a:p>
          <a:p>
            <a:r>
              <a:rPr lang="ko-KR" altLang="en-US" dirty="0"/>
              <a:t>수시모집 원서접수 마감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C6E4A-973B-185D-9E19-422645D7D698}"/>
              </a:ext>
            </a:extLst>
          </p:cNvPr>
          <p:cNvSpPr txBox="1"/>
          <p:nvPr/>
        </p:nvSpPr>
        <p:spPr>
          <a:xfrm>
            <a:off x="1831185" y="3318810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2026.09.15.(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학교장추천 대상자 입력</a:t>
            </a:r>
            <a:r>
              <a:rPr lang="en-US" altLang="ko-KR" sz="1000" dirty="0"/>
              <a:t>: 2026.09.14.(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09:00~09.18.(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1894199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620175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257187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ko-KR" altLang="en-US" dirty="0"/>
              <a:t>실기</a:t>
            </a:r>
            <a:r>
              <a:rPr lang="en-US" altLang="ko-KR" dirty="0"/>
              <a:t>/</a:t>
            </a:r>
            <a:r>
              <a:rPr lang="ko-KR" altLang="en-US" dirty="0"/>
              <a:t>실적</a:t>
            </a:r>
            <a:r>
              <a:rPr lang="en-US" altLang="ko-KR" dirty="0"/>
              <a:t>(</a:t>
            </a:r>
            <a:r>
              <a:rPr lang="ko-KR" altLang="en-US" dirty="0"/>
              <a:t>체육우수자</a:t>
            </a:r>
            <a:r>
              <a:rPr lang="en-US" altLang="ko-KR" dirty="0"/>
              <a:t>(</a:t>
            </a:r>
            <a:r>
              <a:rPr lang="ko-KR" altLang="en-US" dirty="0"/>
              <a:t>축구</a:t>
            </a:r>
            <a:r>
              <a:rPr lang="en-US" altLang="ko-KR" dirty="0"/>
              <a:t>)</a:t>
            </a:r>
            <a:r>
              <a:rPr lang="ko-KR" altLang="en-US" dirty="0"/>
              <a:t>전형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20F4A-7F4B-B11A-1A37-980833B5B05C}"/>
              </a:ext>
            </a:extLst>
          </p:cNvPr>
          <p:cNvSpPr txBox="1"/>
          <p:nvPr/>
        </p:nvSpPr>
        <p:spPr>
          <a:xfrm>
            <a:off x="5990816" y="2441115"/>
            <a:ext cx="401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2</a:t>
            </a:r>
            <a:r>
              <a:rPr lang="ko-KR" altLang="en-US" sz="1000" dirty="0"/>
              <a:t>단계 전형</a:t>
            </a:r>
            <a:r>
              <a:rPr lang="en-US" altLang="ko-KR" sz="1000" dirty="0"/>
              <a:t>(</a:t>
            </a:r>
            <a:r>
              <a:rPr lang="ko-KR" altLang="en-US" sz="1000" dirty="0"/>
              <a:t>실기평가</a:t>
            </a:r>
            <a:r>
              <a:rPr lang="en-US" altLang="ko-KR" sz="1000" dirty="0"/>
              <a:t>, </a:t>
            </a:r>
            <a:r>
              <a:rPr lang="ko-KR" altLang="en-US" sz="1000" dirty="0"/>
              <a:t>면접평가</a:t>
            </a:r>
            <a:r>
              <a:rPr lang="en-US" altLang="ko-KR" sz="1000" dirty="0"/>
              <a:t>)</a:t>
            </a:r>
            <a:r>
              <a:rPr lang="ko-KR" altLang="en-US" sz="1000" dirty="0"/>
              <a:t> 안내</a:t>
            </a:r>
            <a:r>
              <a:rPr lang="en-US" altLang="ko-KR" sz="1000" dirty="0"/>
              <a:t>:  2026.10.24.(</a:t>
            </a:r>
            <a:r>
              <a:rPr lang="ko-KR" altLang="en-US" sz="1000" dirty="0"/>
              <a:t>토</a:t>
            </a:r>
            <a:r>
              <a:rPr lang="en-US" altLang="ko-KR" sz="1000" dirty="0"/>
              <a:t>)</a:t>
            </a:r>
            <a:endParaRPr lang="ko-KR" altLang="en-US" sz="1000" dirty="0"/>
          </a:p>
          <a:p>
            <a:r>
              <a:rPr lang="en-US" altLang="ko-KR" sz="1000" dirty="0"/>
              <a:t>※ </a:t>
            </a:r>
            <a:r>
              <a:rPr lang="ko-KR" altLang="en-US" sz="1000" b="1" dirty="0"/>
              <a:t>최초합격자 발표</a:t>
            </a:r>
            <a:r>
              <a:rPr lang="en-US" altLang="ko-KR" sz="1000" b="1" dirty="0"/>
              <a:t>:  2026.11.06.(</a:t>
            </a:r>
            <a:r>
              <a:rPr lang="ko-KR" altLang="en-US" sz="1000" b="1" dirty="0"/>
              <a:t>금</a:t>
            </a:r>
            <a:r>
              <a:rPr lang="en-US" altLang="ko-KR" sz="1000" b="1" dirty="0"/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안내사항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최초합격자</a:t>
            </a:r>
            <a:endParaRPr lang="en-US" altLang="ko-KR" sz="1200" dirty="0"/>
          </a:p>
          <a:p>
            <a:pPr algn="ctr"/>
            <a:r>
              <a:rPr lang="ko-KR" altLang="en-US" sz="1200" dirty="0"/>
              <a:t>발표</a:t>
            </a:r>
            <a:endParaRPr lang="en-US" altLang="ko-KR" sz="12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CBF734B-1676-4DB5-6926-0DB2283D2BAB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9C68A67-8637-11EE-4346-7A9D604E53DB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926B464-6813-4B7B-F5EE-5F635C8EB40F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3657589-4BB2-5349-90D0-B7A15FE9F7CB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D84701F-A751-3BB8-260C-09C471C6222B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227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11.16.(</a:t>
            </a:r>
            <a:r>
              <a:rPr lang="ko-KR" altLang="en-US" dirty="0"/>
              <a:t>월</a:t>
            </a:r>
            <a:r>
              <a:rPr lang="en-US" altLang="ko-KR" dirty="0"/>
              <a:t>) 10:00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5885" y="175041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</a:t>
            </a:r>
            <a:endParaRPr lang="en-US" altLang="ko-KR" dirty="0"/>
          </a:p>
          <a:p>
            <a:r>
              <a:rPr lang="ko-KR" altLang="en-US" dirty="0"/>
              <a:t>수시모집 원서접수 마감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1894199" y="2394925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620175" y="2394925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257187" y="2394925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합격자 발표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20F4A-7F4B-B11A-1A37-980833B5B05C}"/>
              </a:ext>
            </a:extLst>
          </p:cNvPr>
          <p:cNvSpPr txBox="1"/>
          <p:nvPr/>
        </p:nvSpPr>
        <p:spPr>
          <a:xfrm>
            <a:off x="5990816" y="2354027"/>
            <a:ext cx="401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en-US" altLang="ko-KR" sz="1000" b="1" dirty="0"/>
              <a:t>[1</a:t>
            </a:r>
            <a:r>
              <a:rPr lang="ko-KR" altLang="en-US" sz="1000" b="1" dirty="0"/>
              <a:t>차</a:t>
            </a:r>
            <a:r>
              <a:rPr lang="en-US" altLang="ko-KR" sz="1000" b="1" dirty="0"/>
              <a:t>] 2026.11.17.(</a:t>
            </a:r>
            <a:r>
              <a:rPr lang="ko-KR" altLang="en-US" sz="1000" b="1" dirty="0"/>
              <a:t>화</a:t>
            </a:r>
            <a:r>
              <a:rPr lang="en-US" altLang="ko-KR" sz="1000" b="1" dirty="0"/>
              <a:t>)   </a:t>
            </a:r>
            <a:r>
              <a:rPr lang="en-US" altLang="ko-KR" sz="1000" dirty="0"/>
              <a:t>/   [2</a:t>
            </a:r>
            <a:r>
              <a:rPr lang="ko-KR" altLang="en-US" sz="1000" dirty="0"/>
              <a:t>차</a:t>
            </a:r>
            <a:r>
              <a:rPr lang="en-US" altLang="ko-KR" sz="1000" dirty="0"/>
              <a:t>] 2026.12.12.(</a:t>
            </a:r>
            <a:r>
              <a:rPr lang="ko-KR" altLang="en-US" sz="1000" dirty="0"/>
              <a:t>토</a:t>
            </a:r>
            <a:r>
              <a:rPr lang="en-US" altLang="ko-KR" sz="1000" dirty="0"/>
              <a:t>)</a:t>
            </a:r>
            <a:endParaRPr lang="ko-KR" altLang="en-US" sz="1000" dirty="0"/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면접일정</a:t>
            </a:r>
            <a:r>
              <a:rPr lang="en-US" altLang="ko-KR" sz="1000" dirty="0"/>
              <a:t>: 11.21.(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11.22.(</a:t>
            </a:r>
            <a:r>
              <a:rPr lang="ko-KR" altLang="en-US" sz="1000" dirty="0"/>
              <a:t>일</a:t>
            </a:r>
            <a:r>
              <a:rPr lang="en-US" altLang="ko-KR" sz="1000" dirty="0"/>
              <a:t>), 11.28.(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11.29.(</a:t>
            </a:r>
            <a:r>
              <a:rPr lang="ko-KR" altLang="en-US" sz="1000" dirty="0"/>
              <a:t>일</a:t>
            </a:r>
            <a:r>
              <a:rPr lang="en-US" altLang="ko-KR" sz="1000" dirty="0"/>
              <a:t>), 12.14.(</a:t>
            </a:r>
            <a:r>
              <a:rPr lang="ko-KR" altLang="en-US" sz="1000" dirty="0"/>
              <a:t>월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2026.12.18.(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단계 합격자 발표 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유의사항 안내</a:t>
            </a: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7201B3-309A-F981-75F3-793FD59BE4DB}"/>
              </a:ext>
            </a:extLst>
          </p:cNvPr>
          <p:cNvSpPr/>
          <p:nvPr/>
        </p:nvSpPr>
        <p:spPr>
          <a:xfrm>
            <a:off x="1905182" y="3450130"/>
            <a:ext cx="3878925" cy="39606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 논술고사 수험생 유의사항 및 고사장 안내</a:t>
            </a:r>
            <a:endParaRPr lang="en-US" altLang="ko-KR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731B1DE-89F6-C8B0-BB15-DE3F5838594F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C365046-FCD4-4791-AF93-B2BFE79DB631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0F576C5-DCB6-3407-000C-3D41DC5DE0DF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E8DCD1E-C86D-9816-6509-7C522563604B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2F2584A-9A58-828F-3730-29A9627AF939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85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4419601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합격자 유의사항 안내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 </a:t>
            </a:r>
            <a:r>
              <a:rPr lang="ko-KR" altLang="en-US" sz="2000" dirty="0">
                <a:solidFill>
                  <a:srgbClr val="FF0000"/>
                </a:solidFill>
              </a:rPr>
              <a:t>추후 </a:t>
            </a:r>
            <a:r>
              <a:rPr lang="en-US" altLang="ko-KR" sz="2000" dirty="0">
                <a:solidFill>
                  <a:srgbClr val="FF0000"/>
                </a:solidFill>
              </a:rPr>
              <a:t>11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13</a:t>
            </a:r>
            <a:r>
              <a:rPr lang="ko-KR" altLang="en-US" sz="2000" dirty="0">
                <a:solidFill>
                  <a:srgbClr val="FF0000"/>
                </a:solidFill>
              </a:rPr>
              <a:t>일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금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r>
              <a:rPr lang="ko-KR" altLang="en-US" sz="2000" dirty="0">
                <a:solidFill>
                  <a:srgbClr val="FF0000"/>
                </a:solidFill>
              </a:rPr>
              <a:t> 전달 예정</a:t>
            </a:r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1CE489-74D1-1F06-78CC-A9944827902F}"/>
              </a:ext>
            </a:extLst>
          </p:cNvPr>
          <p:cNvSpPr txBox="1">
            <a:spLocks/>
          </p:cNvSpPr>
          <p:nvPr/>
        </p:nvSpPr>
        <p:spPr>
          <a:xfrm>
            <a:off x="341811" y="2710366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ko-KR" altLang="en-US" sz="2000" dirty="0">
                <a:solidFill>
                  <a:srgbClr val="FF0000"/>
                </a:solidFill>
              </a:rPr>
              <a:t>단계 합격자 발표 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 </a:t>
            </a:r>
            <a:r>
              <a:rPr lang="ko-KR" altLang="en-US" sz="2000" dirty="0">
                <a:solidFill>
                  <a:srgbClr val="FF0000"/>
                </a:solidFill>
              </a:rPr>
              <a:t>추후 </a:t>
            </a:r>
            <a:r>
              <a:rPr lang="en-US" altLang="ko-KR" sz="2000" dirty="0">
                <a:solidFill>
                  <a:srgbClr val="FF0000"/>
                </a:solidFill>
              </a:rPr>
              <a:t>11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13</a:t>
            </a:r>
            <a:r>
              <a:rPr lang="ko-KR" altLang="en-US" sz="2000" dirty="0">
                <a:solidFill>
                  <a:srgbClr val="FF0000"/>
                </a:solidFill>
              </a:rPr>
              <a:t>일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금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r>
              <a:rPr lang="ko-KR" altLang="en-US" sz="2000" dirty="0">
                <a:solidFill>
                  <a:srgbClr val="FF0000"/>
                </a:solidFill>
              </a:rPr>
              <a:t> 전달 예정 </a:t>
            </a:r>
            <a:r>
              <a:rPr lang="en-US" altLang="ko-KR" sz="2000" dirty="0">
                <a:solidFill>
                  <a:srgbClr val="FF0000"/>
                </a:solidFill>
              </a:rPr>
              <a:t>/  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11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16</a:t>
            </a:r>
            <a:r>
              <a:rPr lang="ko-KR" altLang="en-US" sz="2000" dirty="0">
                <a:solidFill>
                  <a:srgbClr val="FF0000"/>
                </a:solidFill>
              </a:rPr>
              <a:t>일까지 </a:t>
            </a:r>
            <a:r>
              <a:rPr lang="en-US" altLang="ko-KR" sz="2000" dirty="0">
                <a:solidFill>
                  <a:srgbClr val="FF0000"/>
                </a:solidFill>
              </a:rPr>
              <a:t>“</a:t>
            </a:r>
            <a:r>
              <a:rPr lang="ko-KR" altLang="en-US" sz="2000" dirty="0">
                <a:solidFill>
                  <a:srgbClr val="FF0000"/>
                </a:solidFill>
              </a:rPr>
              <a:t>준비중 입니다</a:t>
            </a:r>
            <a:r>
              <a:rPr lang="en-US" altLang="ko-KR" sz="2000" dirty="0">
                <a:solidFill>
                  <a:srgbClr val="FF0000"/>
                </a:solidFill>
              </a:rPr>
              <a:t>.” </a:t>
            </a:r>
            <a:r>
              <a:rPr lang="ko-KR" altLang="en-US" sz="2000" dirty="0" err="1">
                <a:solidFill>
                  <a:srgbClr val="FF0000"/>
                </a:solidFill>
              </a:rPr>
              <a:t>알럿창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/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17</a:t>
            </a:r>
            <a:r>
              <a:rPr lang="ko-KR" altLang="en-US" sz="2000" dirty="0">
                <a:solidFill>
                  <a:srgbClr val="FF0000"/>
                </a:solidFill>
              </a:rPr>
              <a:t>일 발표시점부터 연결되도록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EEA36A9-447E-55D3-3F2B-92AEBD067743}"/>
              </a:ext>
            </a:extLst>
          </p:cNvPr>
          <p:cNvSpPr txBox="1">
            <a:spLocks/>
          </p:cNvSpPr>
          <p:nvPr/>
        </p:nvSpPr>
        <p:spPr>
          <a:xfrm>
            <a:off x="341811" y="790126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논술고사 수험생 유의사항 및 고사장 안내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 </a:t>
            </a:r>
            <a:r>
              <a:rPr lang="ko-KR" altLang="en-US" sz="2000" dirty="0">
                <a:solidFill>
                  <a:srgbClr val="FF0000"/>
                </a:solidFill>
              </a:rPr>
              <a:t>추후 </a:t>
            </a:r>
            <a:r>
              <a:rPr lang="en-US" altLang="ko-KR" sz="2000" dirty="0">
                <a:solidFill>
                  <a:srgbClr val="FF0000"/>
                </a:solidFill>
              </a:rPr>
              <a:t>11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13</a:t>
            </a:r>
            <a:r>
              <a:rPr lang="ko-KR" altLang="en-US" sz="2000" dirty="0">
                <a:solidFill>
                  <a:srgbClr val="FF0000"/>
                </a:solidFill>
              </a:rPr>
              <a:t>일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금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r>
              <a:rPr lang="ko-KR" altLang="en-US" sz="2000" dirty="0">
                <a:solidFill>
                  <a:srgbClr val="FF0000"/>
                </a:solidFill>
              </a:rPr>
              <a:t> 전달 예정 </a:t>
            </a:r>
            <a:r>
              <a:rPr lang="en-US" altLang="ko-KR" sz="2000" dirty="0">
                <a:solidFill>
                  <a:srgbClr val="FF0000"/>
                </a:solidFill>
              </a:rPr>
              <a:t>/  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91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11.30.(</a:t>
            </a:r>
            <a:r>
              <a:rPr lang="ko-KR" altLang="en-US" dirty="0"/>
              <a:t>월</a:t>
            </a:r>
            <a:r>
              <a:rPr lang="en-US" altLang="ko-KR" dirty="0"/>
              <a:t>) 10:00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FB9774-DCAF-8FE0-1ECC-569F5B202BE2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87C1A-7248-E32D-48CC-720BE4DDB456}"/>
              </a:ext>
            </a:extLst>
          </p:cNvPr>
          <p:cNvSpPr txBox="1"/>
          <p:nvPr/>
        </p:nvSpPr>
        <p:spPr>
          <a:xfrm>
            <a:off x="1915885" y="1750419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</a:t>
            </a:r>
            <a:endParaRPr lang="en-US" altLang="ko-KR" dirty="0"/>
          </a:p>
          <a:p>
            <a:r>
              <a:rPr lang="ko-KR" altLang="en-US" dirty="0"/>
              <a:t>수시모집 원서접수 마감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BFC0-212C-8C7C-DF3F-345A23C22E1C}"/>
              </a:ext>
            </a:extLst>
          </p:cNvPr>
          <p:cNvSpPr/>
          <p:nvPr/>
        </p:nvSpPr>
        <p:spPr>
          <a:xfrm>
            <a:off x="1894199" y="2394925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96088A2-D5A1-EDFF-CAF9-622B85A7C44F}"/>
              </a:ext>
            </a:extLst>
          </p:cNvPr>
          <p:cNvSpPr/>
          <p:nvPr/>
        </p:nvSpPr>
        <p:spPr>
          <a:xfrm>
            <a:off x="4620175" y="2394925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D08DFC-7D82-9FEC-4A5D-6D2DDB37AD73}"/>
              </a:ext>
            </a:extLst>
          </p:cNvPr>
          <p:cNvSpPr/>
          <p:nvPr/>
        </p:nvSpPr>
        <p:spPr>
          <a:xfrm>
            <a:off x="3257187" y="2394925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86520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86174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85A3C-67B1-70B7-91AF-7E1A88CE8ED6}"/>
              </a:ext>
            </a:extLst>
          </p:cNvPr>
          <p:cNvSpPr/>
          <p:nvPr/>
        </p:nvSpPr>
        <p:spPr>
          <a:xfrm>
            <a:off x="1831185" y="4671956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en-US" altLang="ko-KR" dirty="0"/>
              <a:t>AI </a:t>
            </a:r>
            <a:r>
              <a:rPr lang="ko-KR" altLang="en-US" dirty="0" err="1"/>
              <a:t>대학어디가</a:t>
            </a:r>
            <a:r>
              <a:rPr lang="ko-KR" altLang="en-US" dirty="0"/>
              <a:t>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EA26CD-7D0C-2B5C-8A21-6895782AD160}"/>
              </a:ext>
            </a:extLst>
          </p:cNvPr>
          <p:cNvSpPr/>
          <p:nvPr/>
        </p:nvSpPr>
        <p:spPr>
          <a:xfrm>
            <a:off x="5990816" y="4668502"/>
            <a:ext cx="4116101" cy="426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모의논술 </a:t>
            </a:r>
            <a:r>
              <a:rPr lang="ko-KR" altLang="en-US" sz="1200" dirty="0"/>
              <a:t>바로가기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516631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수시모집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전형 안내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2027</a:t>
                </a:r>
                <a:r>
                  <a:rPr lang="ko-KR" altLang="en-US" sz="1200" dirty="0"/>
                  <a:t>학년도</a:t>
                </a:r>
                <a:endParaRPr lang="en-US" altLang="ko-KR" sz="1200" dirty="0"/>
              </a:p>
              <a:p>
                <a:pPr algn="ctr"/>
                <a:r>
                  <a:rPr lang="ko-KR" altLang="en-US" sz="1200" dirty="0"/>
                  <a:t>논술자료집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인문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아주대학교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첨단학과 안내</a:t>
                </a: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2027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모의논술 해설영상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</a:t>
                </a:r>
                <a:r>
                  <a:rPr lang="ko-KR" altLang="en-US" sz="1000" dirty="0"/>
                  <a:t>자연</a:t>
                </a:r>
                <a:r>
                  <a:rPr lang="en-US" altLang="ko-KR" sz="1000" dirty="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학과별 홈페이지</a:t>
              </a:r>
              <a:endParaRPr lang="en-US" altLang="ko-KR" sz="1100" dirty="0"/>
            </a:p>
            <a:p>
              <a:pPr algn="ctr"/>
              <a:r>
                <a:rPr lang="en-US" altLang="ko-KR" sz="800" dirty="0"/>
                <a:t>(</a:t>
              </a:r>
              <a:r>
                <a:rPr lang="ko-KR" altLang="en-US" sz="800" dirty="0"/>
                <a:t>바로가기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합격자 발표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단계 합격자 발표 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유의사항 안내</a:t>
            </a: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7201B3-309A-F981-75F3-793FD59BE4DB}"/>
              </a:ext>
            </a:extLst>
          </p:cNvPr>
          <p:cNvSpPr/>
          <p:nvPr/>
        </p:nvSpPr>
        <p:spPr>
          <a:xfrm>
            <a:off x="1905182" y="3322156"/>
            <a:ext cx="3878925" cy="524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 논술고사 수험생 유의사항 및 고사장 안내</a:t>
            </a:r>
            <a:endParaRPr lang="en-US" altLang="ko-KR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D99D52D-EC2B-E84B-3589-6AB8E8B18F03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A95DF6-3034-902F-0DBD-A15B12726F6E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801645-FD67-779C-6773-E4CDB17B60B6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D8D07DE-2722-0131-5560-43153BF68040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8AF2CC-9F21-E70D-A671-A769E7EAABE6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F4717D3-11B1-18D2-4F0B-A159BFD9CB97}"/>
              </a:ext>
            </a:extLst>
          </p:cNvPr>
          <p:cNvCxnSpPr/>
          <p:nvPr/>
        </p:nvCxnSpPr>
        <p:spPr>
          <a:xfrm flipV="1">
            <a:off x="7474226" y="2612571"/>
            <a:ext cx="3211191" cy="374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85E9B81-A12D-CB24-4F27-C20B6F041189}"/>
              </a:ext>
            </a:extLst>
          </p:cNvPr>
          <p:cNvCxnSpPr>
            <a:cxnSpLocks/>
          </p:cNvCxnSpPr>
          <p:nvPr/>
        </p:nvCxnSpPr>
        <p:spPr>
          <a:xfrm flipV="1">
            <a:off x="8805097" y="2764971"/>
            <a:ext cx="2032720" cy="343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C561CFE-1EEE-3C74-AB10-E24B6641BACA}"/>
              </a:ext>
            </a:extLst>
          </p:cNvPr>
          <p:cNvSpPr txBox="1"/>
          <p:nvPr/>
        </p:nvSpPr>
        <p:spPr>
          <a:xfrm>
            <a:off x="10670953" y="1297598"/>
            <a:ext cx="1299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준비중입니다</a:t>
            </a:r>
            <a:r>
              <a:rPr lang="en-US" altLang="ko-KR" dirty="0"/>
              <a:t>”</a:t>
            </a:r>
          </a:p>
          <a:p>
            <a:r>
              <a:rPr lang="ko-KR" altLang="en-US" dirty="0" err="1"/>
              <a:t>알럿창으로</a:t>
            </a:r>
            <a:r>
              <a:rPr lang="ko-KR" altLang="en-US" dirty="0"/>
              <a:t> 변경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FEBCED3-4AEE-818C-65E5-3CAC67EA544E}"/>
              </a:ext>
            </a:extLst>
          </p:cNvPr>
          <p:cNvSpPr/>
          <p:nvPr/>
        </p:nvSpPr>
        <p:spPr>
          <a:xfrm rot="11555278">
            <a:off x="1505910" y="3262099"/>
            <a:ext cx="676369" cy="166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0DD07F-ACBE-25E2-7232-70C339D985BD}"/>
              </a:ext>
            </a:extLst>
          </p:cNvPr>
          <p:cNvSpPr txBox="1"/>
          <p:nvPr/>
        </p:nvSpPr>
        <p:spPr>
          <a:xfrm>
            <a:off x="119969" y="2300604"/>
            <a:ext cx="1585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눈에 잘 띄게 반짝반짝 하거나 </a:t>
            </a:r>
            <a:endParaRPr lang="en-US" altLang="ko-KR" dirty="0"/>
          </a:p>
          <a:p>
            <a:r>
              <a:rPr lang="ko-KR" altLang="en-US" dirty="0"/>
              <a:t>강조되는 효과가 있으면 좋겠습니다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28E54E-1EB8-88FC-953D-9A4A629EE7DC}"/>
              </a:ext>
            </a:extLst>
          </p:cNvPr>
          <p:cNvSpPr txBox="1"/>
          <p:nvPr/>
        </p:nvSpPr>
        <p:spPr>
          <a:xfrm>
            <a:off x="5990816" y="2354027"/>
            <a:ext cx="401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[1</a:t>
            </a:r>
            <a:r>
              <a:rPr lang="ko-KR" altLang="en-US" sz="1000" dirty="0"/>
              <a:t>차</a:t>
            </a:r>
            <a:r>
              <a:rPr lang="en-US" altLang="ko-KR" sz="1000" dirty="0"/>
              <a:t>] 2026.11.17.(</a:t>
            </a:r>
            <a:r>
              <a:rPr lang="ko-KR" altLang="en-US" sz="1000" dirty="0"/>
              <a:t>화</a:t>
            </a:r>
            <a:r>
              <a:rPr lang="en-US" altLang="ko-KR" sz="1000" dirty="0"/>
              <a:t>)   /   </a:t>
            </a:r>
            <a:r>
              <a:rPr lang="en-US" altLang="ko-KR" sz="1000" b="1" dirty="0"/>
              <a:t>[2</a:t>
            </a:r>
            <a:r>
              <a:rPr lang="ko-KR" altLang="en-US" sz="1000" b="1" dirty="0"/>
              <a:t>차</a:t>
            </a:r>
            <a:r>
              <a:rPr lang="en-US" altLang="ko-KR" sz="1000" b="1" dirty="0"/>
              <a:t>] 2026.12.12.(</a:t>
            </a:r>
            <a:r>
              <a:rPr lang="ko-KR" altLang="en-US" sz="1000" b="1" dirty="0"/>
              <a:t>토</a:t>
            </a:r>
            <a:r>
              <a:rPr lang="en-US" altLang="ko-KR" sz="1000" b="1" dirty="0"/>
              <a:t>)</a:t>
            </a:r>
            <a:endParaRPr lang="ko-KR" altLang="en-US" sz="1000" b="1" dirty="0"/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면접일정</a:t>
            </a:r>
            <a:r>
              <a:rPr lang="en-US" altLang="ko-KR" sz="1000" dirty="0"/>
              <a:t>: 11.21.(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11.22.(</a:t>
            </a:r>
            <a:r>
              <a:rPr lang="ko-KR" altLang="en-US" sz="1000" dirty="0"/>
              <a:t>일</a:t>
            </a:r>
            <a:r>
              <a:rPr lang="en-US" altLang="ko-KR" sz="1000" dirty="0"/>
              <a:t>), 11.28.(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11.29.(</a:t>
            </a:r>
            <a:r>
              <a:rPr lang="ko-KR" altLang="en-US" sz="1000" dirty="0"/>
              <a:t>일</a:t>
            </a:r>
            <a:r>
              <a:rPr lang="en-US" altLang="ko-KR" sz="1000" dirty="0"/>
              <a:t>), </a:t>
            </a:r>
            <a:r>
              <a:rPr lang="en-US" altLang="ko-KR" sz="1000" b="1" dirty="0"/>
              <a:t>12.14.(</a:t>
            </a:r>
            <a:r>
              <a:rPr lang="ko-KR" altLang="en-US" sz="1000" b="1" dirty="0"/>
              <a:t>월</a:t>
            </a:r>
            <a:r>
              <a:rPr lang="en-US" altLang="ko-KR" sz="1000" b="1" dirty="0"/>
              <a:t>)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2026.12.18.(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  <a:p>
            <a:endParaRPr lang="en-US" alt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3256418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12.07.(</a:t>
            </a:r>
            <a:r>
              <a:rPr lang="ko-KR" altLang="en-US" dirty="0"/>
              <a:t>월</a:t>
            </a:r>
            <a:r>
              <a:rPr lang="en-US" altLang="ko-KR" dirty="0"/>
              <a:t>) 09:00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33028-D369-721A-C93E-8957E302C4A0}"/>
              </a:ext>
            </a:extLst>
          </p:cNvPr>
          <p:cNvSpPr/>
          <p:nvPr/>
        </p:nvSpPr>
        <p:spPr>
          <a:xfrm>
            <a:off x="1831185" y="537752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4A2B1B-CA93-D9C0-224C-B9754974A6B4}"/>
              </a:ext>
            </a:extLst>
          </p:cNvPr>
          <p:cNvSpPr/>
          <p:nvPr/>
        </p:nvSpPr>
        <p:spPr>
          <a:xfrm>
            <a:off x="5990816" y="537406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0DD2E07-C3FE-6554-D45A-08F02201C111}"/>
              </a:ext>
            </a:extLst>
          </p:cNvPr>
          <p:cNvGrpSpPr/>
          <p:nvPr/>
        </p:nvGrpSpPr>
        <p:grpSpPr>
          <a:xfrm>
            <a:off x="1883437" y="4678632"/>
            <a:ext cx="8166256" cy="609403"/>
            <a:chOff x="1883437" y="5166312"/>
            <a:chExt cx="8166256" cy="60940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36AE332-D9E0-2659-3155-50724CDA946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B15F2AD-6D35-13AA-6AFE-D0C52FF9CA8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55587E5-13EF-5838-E0FA-59F04D899CC5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정시모집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92B4E63-E997-FA5A-9CBD-467FFF8CBFCE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dirty="0"/>
                  <a:t>아주대학교</a:t>
                </a:r>
                <a:endParaRPr lang="en-US" altLang="ko-KR" sz="1100" dirty="0"/>
              </a:p>
              <a:p>
                <a:pPr algn="ctr"/>
                <a:r>
                  <a:rPr lang="ko-KR" altLang="en-US" sz="1100" dirty="0"/>
                  <a:t>학과별 홈페이지</a:t>
                </a:r>
                <a:endParaRPr lang="en-US" altLang="ko-KR" sz="1100" dirty="0"/>
              </a:p>
              <a:p>
                <a:pPr algn="ctr"/>
                <a:r>
                  <a:rPr lang="en-US" altLang="ko-KR" sz="800" dirty="0"/>
                  <a:t>(</a:t>
                </a:r>
                <a:r>
                  <a:rPr lang="ko-KR" altLang="en-US" sz="800" dirty="0"/>
                  <a:t>바로가기</a:t>
                </a:r>
                <a:endParaRPr lang="ko-KR" altLang="en-US" sz="1100" dirty="0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99C9D68-789D-9EF7-549F-B3E1EAEBEBF5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2028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입학전형 시행계획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19AFA0F-093F-3328-7B5D-B2D37FEB24C9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신설 첨단학과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  <a:endParaRPr lang="en-US" altLang="ko-KR" sz="800" dirty="0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8FB90496-EB39-C523-0904-23A3C8D4F57D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아주대학교 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AI </a:t>
                </a:r>
                <a:r>
                  <a:rPr lang="ko-KR" altLang="en-US" sz="1000" dirty="0" err="1"/>
                  <a:t>대학어디가</a:t>
                </a:r>
                <a:endParaRPr lang="ko-KR" altLang="en-US" sz="1000" dirty="0"/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5883C3-C28D-D889-2C2F-FDDEE30A7EC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첨단학과 안내</a:t>
              </a:r>
              <a:endParaRPr lang="ko-KR" altLang="en-US" sz="8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합격자 발표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단계 합격자 발표 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유의사항 안내</a:t>
            </a:r>
            <a:endParaRPr lang="en-US" altLang="ko-KR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D99D52D-EC2B-E84B-3589-6AB8E8B18F03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A95DF6-3034-902F-0DBD-A15B12726F6E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801645-FD67-779C-6773-E4CDB17B60B6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D8D07DE-2722-0131-5560-43153BF68040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8AF2CC-9F21-E70D-A671-A769E7EAABE6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8A94A6-A5F5-3CE6-EC24-31D974F7B914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276AA-7328-061D-7FEA-5D218F1CA6B9}"/>
              </a:ext>
            </a:extLst>
          </p:cNvPr>
          <p:cNvSpPr txBox="1"/>
          <p:nvPr/>
        </p:nvSpPr>
        <p:spPr>
          <a:xfrm>
            <a:off x="1918875" y="1854926"/>
            <a:ext cx="388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아주대학교 편입학모집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787B1-2441-F9D0-E404-38E7FD488C9B}"/>
              </a:ext>
            </a:extLst>
          </p:cNvPr>
          <p:cNvSpPr txBox="1"/>
          <p:nvPr/>
        </p:nvSpPr>
        <p:spPr>
          <a:xfrm>
            <a:off x="1831185" y="3153345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원서접수기간</a:t>
            </a:r>
            <a:r>
              <a:rPr lang="en-US" altLang="ko-KR" sz="1000" dirty="0"/>
              <a:t>: 2026.12.07.(</a:t>
            </a:r>
            <a:r>
              <a:rPr lang="ko-KR" altLang="en-US" sz="1000" dirty="0"/>
              <a:t>월</a:t>
            </a:r>
            <a:r>
              <a:rPr lang="en-US" altLang="ko-KR" sz="1000" dirty="0"/>
              <a:t>) 09:00~12.11.(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2026.12.15.(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E423724-2018-DFF7-D249-C3F0CE520E05}"/>
              </a:ext>
            </a:extLst>
          </p:cNvPr>
          <p:cNvSpPr/>
          <p:nvPr/>
        </p:nvSpPr>
        <p:spPr>
          <a:xfrm>
            <a:off x="1898466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원서접수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CFF3C49-07AA-7AF4-6E23-1746753B08A5}"/>
              </a:ext>
            </a:extLst>
          </p:cNvPr>
          <p:cNvSpPr/>
          <p:nvPr/>
        </p:nvSpPr>
        <p:spPr>
          <a:xfrm>
            <a:off x="2878275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A436513-AA9F-5FBF-4FF3-99E219FDF282}"/>
              </a:ext>
            </a:extLst>
          </p:cNvPr>
          <p:cNvSpPr/>
          <p:nvPr/>
        </p:nvSpPr>
        <p:spPr>
          <a:xfrm>
            <a:off x="4837892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편입학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C8501E-96A2-D089-D094-116E70013405}"/>
              </a:ext>
            </a:extLst>
          </p:cNvPr>
          <p:cNvSpPr/>
          <p:nvPr/>
        </p:nvSpPr>
        <p:spPr>
          <a:xfrm>
            <a:off x="3858084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24E821-5A06-C0A2-2176-A50ACA22DCA3}"/>
              </a:ext>
            </a:extLst>
          </p:cNvPr>
          <p:cNvSpPr txBox="1"/>
          <p:nvPr/>
        </p:nvSpPr>
        <p:spPr>
          <a:xfrm>
            <a:off x="5990816" y="2354027"/>
            <a:ext cx="401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[1</a:t>
            </a:r>
            <a:r>
              <a:rPr lang="ko-KR" altLang="en-US" sz="1000" dirty="0"/>
              <a:t>차</a:t>
            </a:r>
            <a:r>
              <a:rPr lang="en-US" altLang="ko-KR" sz="1000" dirty="0"/>
              <a:t>] 2026.11.17.(</a:t>
            </a:r>
            <a:r>
              <a:rPr lang="ko-KR" altLang="en-US" sz="1000" dirty="0"/>
              <a:t>화</a:t>
            </a:r>
            <a:r>
              <a:rPr lang="en-US" altLang="ko-KR" sz="1000" dirty="0"/>
              <a:t>)   /   </a:t>
            </a:r>
            <a:r>
              <a:rPr lang="en-US" altLang="ko-KR" sz="1000" b="1" dirty="0"/>
              <a:t>[2</a:t>
            </a:r>
            <a:r>
              <a:rPr lang="ko-KR" altLang="en-US" sz="1000" b="1" dirty="0"/>
              <a:t>차</a:t>
            </a:r>
            <a:r>
              <a:rPr lang="en-US" altLang="ko-KR" sz="1000" b="1" dirty="0"/>
              <a:t>] 2026.12.12.(</a:t>
            </a:r>
            <a:r>
              <a:rPr lang="ko-KR" altLang="en-US" sz="1000" b="1" dirty="0"/>
              <a:t>토</a:t>
            </a:r>
            <a:r>
              <a:rPr lang="en-US" altLang="ko-KR" sz="1000" b="1" dirty="0"/>
              <a:t>)</a:t>
            </a:r>
            <a:endParaRPr lang="ko-KR" altLang="en-US" sz="1000" b="1" dirty="0"/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면접일정</a:t>
            </a:r>
            <a:r>
              <a:rPr lang="en-US" altLang="ko-KR" sz="1000" dirty="0"/>
              <a:t>: 11.21.(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11.22.(</a:t>
            </a:r>
            <a:r>
              <a:rPr lang="ko-KR" altLang="en-US" sz="1000" dirty="0"/>
              <a:t>일</a:t>
            </a:r>
            <a:r>
              <a:rPr lang="en-US" altLang="ko-KR" sz="1000" dirty="0"/>
              <a:t>), 11.28.(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11.29.(</a:t>
            </a:r>
            <a:r>
              <a:rPr lang="ko-KR" altLang="en-US" sz="1000" dirty="0"/>
              <a:t>일</a:t>
            </a:r>
            <a:r>
              <a:rPr lang="en-US" altLang="ko-KR" sz="1000" dirty="0"/>
              <a:t>), </a:t>
            </a:r>
            <a:r>
              <a:rPr lang="en-US" altLang="ko-KR" sz="1000" b="1" dirty="0"/>
              <a:t>12.14.(</a:t>
            </a:r>
            <a:r>
              <a:rPr lang="ko-KR" altLang="en-US" sz="1000" b="1" dirty="0"/>
              <a:t>월</a:t>
            </a:r>
            <a:r>
              <a:rPr lang="en-US" altLang="ko-KR" sz="1000" b="1" dirty="0"/>
              <a:t>)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2026.12.18.(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  <a:p>
            <a:endParaRPr lang="en-US" alt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1723054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31655"/>
            <a:ext cx="10515600" cy="129640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2027</a:t>
            </a:r>
            <a:r>
              <a:rPr lang="ko-KR" altLang="en-US" sz="2000" dirty="0">
                <a:solidFill>
                  <a:srgbClr val="FF0000"/>
                </a:solidFill>
              </a:rPr>
              <a:t>학년도 정시모집 전형안내 영상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  </a:t>
            </a:r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</a:t>
            </a:r>
            <a:r>
              <a:rPr lang="ko-KR" altLang="en-US" sz="2000" dirty="0">
                <a:solidFill>
                  <a:srgbClr val="FF0000"/>
                </a:solidFill>
              </a:rPr>
              <a:t>추후 전달</a:t>
            </a:r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0E1DF58-63B8-4666-23EB-3FB310B7373D}"/>
              </a:ext>
            </a:extLst>
          </p:cNvPr>
          <p:cNvSpPr txBox="1">
            <a:spLocks/>
          </p:cNvSpPr>
          <p:nvPr/>
        </p:nvSpPr>
        <p:spPr>
          <a:xfrm>
            <a:off x="341811" y="2495008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아주대학교 첨단학과 안내</a:t>
            </a:r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https://www.iajou.ac.kr/_common/pdf_viewer.php?m_type=enterinfo&amp;e_no=29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D55E87-0740-32F2-50FB-F445872A6641}"/>
              </a:ext>
            </a:extLst>
          </p:cNvPr>
          <p:cNvSpPr txBox="1">
            <a:spLocks/>
          </p:cNvSpPr>
          <p:nvPr/>
        </p:nvSpPr>
        <p:spPr>
          <a:xfrm>
            <a:off x="341811" y="1318165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신설첨단학과 안내 영상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https://youtu.be/PfsDBq5jsw4?si=4sc_rur83wfwjMMt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D87AE7D-9361-DE27-1BA7-20FC88C91258}"/>
              </a:ext>
            </a:extLst>
          </p:cNvPr>
          <p:cNvSpPr txBox="1">
            <a:spLocks/>
          </p:cNvSpPr>
          <p:nvPr/>
        </p:nvSpPr>
        <p:spPr>
          <a:xfrm>
            <a:off x="341811" y="4530811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AI </a:t>
            </a:r>
            <a:r>
              <a:rPr lang="ko-KR" altLang="en-US" sz="2000" dirty="0" err="1"/>
              <a:t>대학어디가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https://ajouchat.shop/sign-in</a:t>
            </a:r>
          </a:p>
          <a:p>
            <a:endParaRPr lang="en-US" altLang="ko-KR" sz="200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80CDD50-6734-22B1-16A7-4BB00B029212}"/>
              </a:ext>
            </a:extLst>
          </p:cNvPr>
          <p:cNvSpPr txBox="1">
            <a:spLocks/>
          </p:cNvSpPr>
          <p:nvPr/>
        </p:nvSpPr>
        <p:spPr>
          <a:xfrm>
            <a:off x="341811" y="5530766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2028</a:t>
            </a:r>
            <a:r>
              <a:rPr lang="ko-KR" altLang="en-US" sz="2000" dirty="0"/>
              <a:t>학년도 입학전형 시행계획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https://www.iajou.ac.kr/notice/view.php?bn=78459&amp;m_type=ALL</a:t>
            </a:r>
          </a:p>
          <a:p>
            <a:endParaRPr lang="en-US" altLang="ko-KR" sz="2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1CE489-74D1-1F06-78CC-A9944827902F}"/>
              </a:ext>
            </a:extLst>
          </p:cNvPr>
          <p:cNvSpPr txBox="1">
            <a:spLocks/>
          </p:cNvSpPr>
          <p:nvPr/>
        </p:nvSpPr>
        <p:spPr>
          <a:xfrm>
            <a:off x="341811" y="3509547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학과별 홈페이지</a:t>
            </a:r>
            <a:endParaRPr lang="en-US" altLang="ko-KR" sz="2000" dirty="0"/>
          </a:p>
          <a:p>
            <a:r>
              <a:rPr lang="ko-KR" altLang="en-US" sz="2000" dirty="0"/>
              <a:t>링크</a:t>
            </a:r>
            <a:r>
              <a:rPr lang="en-US" altLang="ko-KR" sz="2000" dirty="0"/>
              <a:t>: https://ajou.ac.kr/kr/admission/list01.do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31328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12.12.(</a:t>
            </a:r>
            <a:r>
              <a:rPr lang="ko-KR" altLang="en-US" dirty="0"/>
              <a:t>토</a:t>
            </a:r>
            <a:r>
              <a:rPr lang="en-US" altLang="ko-KR" dirty="0"/>
              <a:t>) 09:00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합격자 발표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단계 합격자 발표 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유의사항 안내</a:t>
            </a:r>
            <a:endParaRPr lang="en-US" altLang="ko-KR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D99D52D-EC2B-E84B-3589-6AB8E8B18F03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A95DF6-3034-902F-0DBD-A15B12726F6E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801645-FD67-779C-6773-E4CDB17B60B6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D8D07DE-2722-0131-5560-43153BF68040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8AF2CC-9F21-E70D-A671-A769E7EAABE6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8A94A6-A5F5-3CE6-EC24-31D974F7B914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276AA-7328-061D-7FEA-5D218F1CA6B9}"/>
              </a:ext>
            </a:extLst>
          </p:cNvPr>
          <p:cNvSpPr txBox="1"/>
          <p:nvPr/>
        </p:nvSpPr>
        <p:spPr>
          <a:xfrm>
            <a:off x="1918875" y="1854926"/>
            <a:ext cx="388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아주대학교 편입학모집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787B1-2441-F9D0-E404-38E7FD488C9B}"/>
              </a:ext>
            </a:extLst>
          </p:cNvPr>
          <p:cNvSpPr txBox="1"/>
          <p:nvPr/>
        </p:nvSpPr>
        <p:spPr>
          <a:xfrm>
            <a:off x="1831185" y="3153345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원서접수기간</a:t>
            </a:r>
            <a:r>
              <a:rPr lang="en-US" altLang="ko-KR" sz="1000" dirty="0"/>
              <a:t>: 2026.12.07.(</a:t>
            </a:r>
            <a:r>
              <a:rPr lang="ko-KR" altLang="en-US" sz="1000" dirty="0"/>
              <a:t>월</a:t>
            </a:r>
            <a:r>
              <a:rPr lang="en-US" altLang="ko-KR" sz="1000" dirty="0"/>
              <a:t>) 09:00~12.11.(</a:t>
            </a:r>
            <a:r>
              <a:rPr lang="ko-KR" altLang="en-US" sz="1000" dirty="0"/>
              <a:t>금</a:t>
            </a:r>
            <a:r>
              <a:rPr lang="en-US" altLang="ko-KR" sz="1000" dirty="0"/>
              <a:t>) 18:00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2026.12.15.(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E423724-2018-DFF7-D249-C3F0CE520E05}"/>
              </a:ext>
            </a:extLst>
          </p:cNvPr>
          <p:cNvSpPr/>
          <p:nvPr/>
        </p:nvSpPr>
        <p:spPr>
          <a:xfrm>
            <a:off x="1898466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원서접수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CFF3C49-07AA-7AF4-6E23-1746753B08A5}"/>
              </a:ext>
            </a:extLst>
          </p:cNvPr>
          <p:cNvSpPr/>
          <p:nvPr/>
        </p:nvSpPr>
        <p:spPr>
          <a:xfrm>
            <a:off x="2878275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A436513-AA9F-5FBF-4FF3-99E219FDF282}"/>
              </a:ext>
            </a:extLst>
          </p:cNvPr>
          <p:cNvSpPr/>
          <p:nvPr/>
        </p:nvSpPr>
        <p:spPr>
          <a:xfrm>
            <a:off x="4837892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편입학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C8501E-96A2-D089-D094-116E70013405}"/>
              </a:ext>
            </a:extLst>
          </p:cNvPr>
          <p:cNvSpPr/>
          <p:nvPr/>
        </p:nvSpPr>
        <p:spPr>
          <a:xfrm>
            <a:off x="3858084" y="2351380"/>
            <a:ext cx="93182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03472D5-A454-B117-3187-9F230DC0BE09}"/>
              </a:ext>
            </a:extLst>
          </p:cNvPr>
          <p:cNvCxnSpPr/>
          <p:nvPr/>
        </p:nvCxnSpPr>
        <p:spPr>
          <a:xfrm flipV="1">
            <a:off x="7474226" y="2612571"/>
            <a:ext cx="3211191" cy="374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32EB587-CA21-B556-2DE7-AE84E6177BC6}"/>
              </a:ext>
            </a:extLst>
          </p:cNvPr>
          <p:cNvCxnSpPr>
            <a:cxnSpLocks/>
          </p:cNvCxnSpPr>
          <p:nvPr/>
        </p:nvCxnSpPr>
        <p:spPr>
          <a:xfrm flipV="1">
            <a:off x="8805097" y="2764971"/>
            <a:ext cx="2032720" cy="343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D55382-3302-DD33-9510-2EE01D8B1EF8}"/>
              </a:ext>
            </a:extLst>
          </p:cNvPr>
          <p:cNvSpPr txBox="1"/>
          <p:nvPr/>
        </p:nvSpPr>
        <p:spPr>
          <a:xfrm>
            <a:off x="10670953" y="1297598"/>
            <a:ext cx="12992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12.11.(</a:t>
            </a:r>
            <a:r>
              <a:rPr lang="ko-KR" altLang="en-US" dirty="0"/>
              <a:t>금</a:t>
            </a:r>
            <a:r>
              <a:rPr lang="en-US" altLang="ko-KR" dirty="0"/>
              <a:t>) </a:t>
            </a:r>
            <a:r>
              <a:rPr lang="ko-KR" altLang="en-US" dirty="0"/>
              <a:t>이전에 </a:t>
            </a:r>
            <a:endParaRPr lang="en-US" altLang="ko-KR" dirty="0"/>
          </a:p>
          <a:p>
            <a:r>
              <a:rPr lang="ko-KR" altLang="en-US" dirty="0"/>
              <a:t>관련 링크 전달 예정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12.12.(</a:t>
            </a:r>
            <a:r>
              <a:rPr lang="ko-KR" altLang="en-US" dirty="0"/>
              <a:t>토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반영 요청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59E544-2C94-0B2F-0001-13EAF9E2FECE}"/>
              </a:ext>
            </a:extLst>
          </p:cNvPr>
          <p:cNvSpPr txBox="1"/>
          <p:nvPr/>
        </p:nvSpPr>
        <p:spPr>
          <a:xfrm>
            <a:off x="5990816" y="2354027"/>
            <a:ext cx="401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[1</a:t>
            </a:r>
            <a:r>
              <a:rPr lang="ko-KR" altLang="en-US" sz="1000" dirty="0"/>
              <a:t>차</a:t>
            </a:r>
            <a:r>
              <a:rPr lang="en-US" altLang="ko-KR" sz="1000" dirty="0"/>
              <a:t>] 2026.11.17.(</a:t>
            </a:r>
            <a:r>
              <a:rPr lang="ko-KR" altLang="en-US" sz="1000" dirty="0"/>
              <a:t>화</a:t>
            </a:r>
            <a:r>
              <a:rPr lang="en-US" altLang="ko-KR" sz="1000" dirty="0"/>
              <a:t>)   /   </a:t>
            </a:r>
            <a:r>
              <a:rPr lang="en-US" altLang="ko-KR" sz="1000" b="1" dirty="0"/>
              <a:t>[2</a:t>
            </a:r>
            <a:r>
              <a:rPr lang="ko-KR" altLang="en-US" sz="1000" b="1" dirty="0"/>
              <a:t>차</a:t>
            </a:r>
            <a:r>
              <a:rPr lang="en-US" altLang="ko-KR" sz="1000" b="1" dirty="0"/>
              <a:t>] 2026.12.12.(</a:t>
            </a:r>
            <a:r>
              <a:rPr lang="ko-KR" altLang="en-US" sz="1000" b="1" dirty="0"/>
              <a:t>토</a:t>
            </a:r>
            <a:r>
              <a:rPr lang="en-US" altLang="ko-KR" sz="1000" b="1" dirty="0"/>
              <a:t>)</a:t>
            </a:r>
            <a:endParaRPr lang="ko-KR" altLang="en-US" sz="1000" b="1" dirty="0"/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면접일정</a:t>
            </a:r>
            <a:r>
              <a:rPr lang="en-US" altLang="ko-KR" sz="1000" dirty="0"/>
              <a:t>: 11.21.(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11.22.(</a:t>
            </a:r>
            <a:r>
              <a:rPr lang="ko-KR" altLang="en-US" sz="1000" dirty="0"/>
              <a:t>일</a:t>
            </a:r>
            <a:r>
              <a:rPr lang="en-US" altLang="ko-KR" sz="1000" dirty="0"/>
              <a:t>), 11.28.(</a:t>
            </a:r>
            <a:r>
              <a:rPr lang="ko-KR" altLang="en-US" sz="1000" dirty="0"/>
              <a:t>토</a:t>
            </a:r>
            <a:r>
              <a:rPr lang="en-US" altLang="ko-KR" sz="1000" dirty="0"/>
              <a:t>), 11.29.(</a:t>
            </a:r>
            <a:r>
              <a:rPr lang="ko-KR" altLang="en-US" sz="1000" dirty="0"/>
              <a:t>일</a:t>
            </a:r>
            <a:r>
              <a:rPr lang="en-US" altLang="ko-KR" sz="1000" dirty="0"/>
              <a:t>), </a:t>
            </a:r>
            <a:r>
              <a:rPr lang="en-US" altLang="ko-KR" sz="1000" b="1" dirty="0"/>
              <a:t>12.14.(</a:t>
            </a:r>
            <a:r>
              <a:rPr lang="ko-KR" altLang="en-US" sz="1000" b="1" dirty="0"/>
              <a:t>월</a:t>
            </a:r>
            <a:r>
              <a:rPr lang="en-US" altLang="ko-KR" sz="1000" b="1" dirty="0"/>
              <a:t>)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2026.12.18.(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  <a:p>
            <a:endParaRPr lang="en-US" altLang="ko-KR" sz="1000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592F8D-409F-ADAD-CA27-62407F9388A0}"/>
              </a:ext>
            </a:extLst>
          </p:cNvPr>
          <p:cNvSpPr/>
          <p:nvPr/>
        </p:nvSpPr>
        <p:spPr>
          <a:xfrm>
            <a:off x="1831185" y="537752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A395F3A-EA6D-E4AF-ECDA-99E3368389D1}"/>
              </a:ext>
            </a:extLst>
          </p:cNvPr>
          <p:cNvSpPr/>
          <p:nvPr/>
        </p:nvSpPr>
        <p:spPr>
          <a:xfrm>
            <a:off x="5990816" y="537406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06F3ECB-68F8-E796-3C7D-7F8410408BDB}"/>
              </a:ext>
            </a:extLst>
          </p:cNvPr>
          <p:cNvGrpSpPr/>
          <p:nvPr/>
        </p:nvGrpSpPr>
        <p:grpSpPr>
          <a:xfrm>
            <a:off x="1883437" y="4678632"/>
            <a:ext cx="8166256" cy="609403"/>
            <a:chOff x="1883437" y="5166312"/>
            <a:chExt cx="8166256" cy="609403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E9FCDB3-297D-37ED-608B-1BA7E94CC283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A2C0E95C-4BD4-8FEE-00D4-FCC2DB94AEF0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9102A629-7690-D92E-32F3-F191681FC5BE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정시모집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352448C-AD5F-8436-F87E-2925B7C95429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dirty="0"/>
                  <a:t>아주대학교</a:t>
                </a:r>
                <a:endParaRPr lang="en-US" altLang="ko-KR" sz="1100" dirty="0"/>
              </a:p>
              <a:p>
                <a:pPr algn="ctr"/>
                <a:r>
                  <a:rPr lang="ko-KR" altLang="en-US" sz="1100" dirty="0"/>
                  <a:t>학과별 홈페이지</a:t>
                </a:r>
                <a:endParaRPr lang="en-US" altLang="ko-KR" sz="1100" dirty="0"/>
              </a:p>
              <a:p>
                <a:pPr algn="ctr"/>
                <a:r>
                  <a:rPr lang="en-US" altLang="ko-KR" sz="800" dirty="0"/>
                  <a:t>(</a:t>
                </a:r>
                <a:r>
                  <a:rPr lang="ko-KR" altLang="en-US" sz="800" dirty="0"/>
                  <a:t>바로가기</a:t>
                </a:r>
                <a:endParaRPr lang="ko-KR" altLang="en-US" sz="1100" dirty="0"/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42B66CF8-BC0F-7EF5-CD2A-AE6CE453FEEE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2028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입학전형 시행계획</a:t>
                </a: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09C11D4F-BAC3-0F73-5087-7671AA525F61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신설 첨단학과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  <a:endParaRPr lang="en-US" altLang="ko-KR" sz="800" dirty="0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31901802-091B-FBAF-584E-6CBB60BAB09C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아주대학교 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AI </a:t>
                </a:r>
                <a:r>
                  <a:rPr lang="ko-KR" altLang="en-US" sz="1000" dirty="0" err="1"/>
                  <a:t>대학어디가</a:t>
                </a:r>
                <a:endParaRPr lang="ko-KR" altLang="en-US" sz="1000" dirty="0"/>
              </a:p>
            </p:txBody>
          </p:sp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E41EDE1-5782-7090-4E58-9B81C9E7DBD2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첨단학과 안내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58854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31655"/>
            <a:ext cx="10515600" cy="129640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ko-KR" altLang="en-US" sz="2000" dirty="0">
                <a:solidFill>
                  <a:srgbClr val="FF0000"/>
                </a:solidFill>
              </a:rPr>
              <a:t>단계 합격자 발표 바로가기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  </a:t>
            </a:r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</a:t>
            </a:r>
            <a:r>
              <a:rPr lang="ko-KR" altLang="en-US" sz="2000" dirty="0">
                <a:solidFill>
                  <a:srgbClr val="FF0000"/>
                </a:solidFill>
              </a:rPr>
              <a:t>추후 전달</a:t>
            </a:r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D55E87-0740-32F2-50FB-F445872A6641}"/>
              </a:ext>
            </a:extLst>
          </p:cNvPr>
          <p:cNvSpPr txBox="1">
            <a:spLocks/>
          </p:cNvSpPr>
          <p:nvPr/>
        </p:nvSpPr>
        <p:spPr>
          <a:xfrm>
            <a:off x="341811" y="1318165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합격자 유의사항 안내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의약학 면접대상자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017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12.14.(</a:t>
            </a:r>
            <a:r>
              <a:rPr lang="ko-KR" altLang="en-US" dirty="0"/>
              <a:t>월</a:t>
            </a:r>
            <a:r>
              <a:rPr lang="en-US" altLang="ko-KR" dirty="0"/>
              <a:t>) 16:00</a:t>
            </a:r>
            <a:r>
              <a:rPr lang="ko-KR" altLang="en-US" dirty="0"/>
              <a:t>부터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BF2C3D-6B82-DD3F-3426-0854D737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09" b="41793"/>
          <a:stretch/>
        </p:blipFill>
        <p:spPr>
          <a:xfrm>
            <a:off x="4959275" y="45603"/>
            <a:ext cx="2514951" cy="5902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0D07CD-4843-674A-E21F-7ADFED01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6" t="54101"/>
          <a:stretch/>
        </p:blipFill>
        <p:spPr>
          <a:xfrm>
            <a:off x="7474226" y="45965"/>
            <a:ext cx="2196172" cy="590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ko-KR" altLang="en-US" dirty="0"/>
              <a:t>최초 합격자 발표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20F4A-7F4B-B11A-1A37-980833B5B05C}"/>
              </a:ext>
            </a:extLst>
          </p:cNvPr>
          <p:cNvSpPr txBox="1"/>
          <p:nvPr/>
        </p:nvSpPr>
        <p:spPr>
          <a:xfrm>
            <a:off x="5990816" y="2354027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2026.12.18.(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충원합격자 발표</a:t>
            </a:r>
            <a:r>
              <a:rPr lang="en-US" altLang="ko-KR" sz="1000" dirty="0"/>
              <a:t>:  2026.12.24.(</a:t>
            </a:r>
            <a:r>
              <a:rPr lang="ko-KR" altLang="en-US" sz="1000" dirty="0"/>
              <a:t>목</a:t>
            </a:r>
            <a:r>
              <a:rPr lang="en-US" altLang="ko-KR" sz="1000" dirty="0"/>
              <a:t>)~12.29.(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최초 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발표 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유의사항 안내</a:t>
            </a:r>
            <a:endParaRPr lang="en-US" altLang="ko-KR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D99D52D-EC2B-E84B-3589-6AB8E8B18F03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A95DF6-3034-902F-0DBD-A15B12726F6E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801645-FD67-779C-6773-E4CDB17B60B6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D8D07DE-2722-0131-5560-43153BF68040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8AF2CC-9F21-E70D-A671-A769E7EAABE6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8A94A6-A5F5-3CE6-EC24-31D974F7B914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276AA-7328-061D-7FEA-5D218F1CA6B9}"/>
              </a:ext>
            </a:extLst>
          </p:cNvPr>
          <p:cNvSpPr txBox="1"/>
          <p:nvPr/>
        </p:nvSpPr>
        <p:spPr>
          <a:xfrm>
            <a:off x="1918875" y="1854926"/>
            <a:ext cx="388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편입학모집 마감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787B1-2441-F9D0-E404-38E7FD488C9B}"/>
              </a:ext>
            </a:extLst>
          </p:cNvPr>
          <p:cNvSpPr txBox="1"/>
          <p:nvPr/>
        </p:nvSpPr>
        <p:spPr>
          <a:xfrm>
            <a:off x="1831185" y="3223015"/>
            <a:ext cx="401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2026.12.15.(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860A85-4F6D-9593-A65C-39A3F5C551BD}"/>
              </a:ext>
            </a:extLst>
          </p:cNvPr>
          <p:cNvSpPr/>
          <p:nvPr/>
        </p:nvSpPr>
        <p:spPr>
          <a:xfrm>
            <a:off x="1894199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DB937E-FBD3-6F95-7FFA-46AE7B1D278C}"/>
              </a:ext>
            </a:extLst>
          </p:cNvPr>
          <p:cNvSpPr/>
          <p:nvPr/>
        </p:nvSpPr>
        <p:spPr>
          <a:xfrm>
            <a:off x="4620175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편입학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FAAA38-71AC-7415-03C7-B72EBE9DD98D}"/>
              </a:ext>
            </a:extLst>
          </p:cNvPr>
          <p:cNvSpPr/>
          <p:nvPr/>
        </p:nvSpPr>
        <p:spPr>
          <a:xfrm>
            <a:off x="3257187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BCE22A3-003F-A863-B8F1-2198D94B8F65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1393729" y="3845525"/>
            <a:ext cx="473570" cy="425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AC84884-C40E-7E17-A7BC-61500DE544D7}"/>
              </a:ext>
            </a:extLst>
          </p:cNvPr>
          <p:cNvSpPr txBox="1"/>
          <p:nvPr/>
        </p:nvSpPr>
        <p:spPr>
          <a:xfrm>
            <a:off x="57656" y="2947187"/>
            <a:ext cx="1869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링크</a:t>
            </a:r>
            <a:endParaRPr lang="en-US" altLang="ko-KR" dirty="0"/>
          </a:p>
          <a:p>
            <a:r>
              <a:rPr lang="ko-KR" altLang="en-US" dirty="0"/>
              <a:t>편입학버전으로</a:t>
            </a:r>
            <a:endParaRPr lang="en-US" altLang="ko-KR" dirty="0"/>
          </a:p>
          <a:p>
            <a:r>
              <a:rPr lang="ko-KR" altLang="en-US" dirty="0"/>
              <a:t> 추후 전달 예정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93FD440-5454-CE3A-00AA-BD720781E894}"/>
              </a:ext>
            </a:extLst>
          </p:cNvPr>
          <p:cNvCxnSpPr/>
          <p:nvPr/>
        </p:nvCxnSpPr>
        <p:spPr>
          <a:xfrm flipV="1">
            <a:off x="7474226" y="2612571"/>
            <a:ext cx="3211191" cy="374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15AD389-7B9F-DEFC-F6C8-0557EBBA147A}"/>
              </a:ext>
            </a:extLst>
          </p:cNvPr>
          <p:cNvCxnSpPr>
            <a:cxnSpLocks/>
          </p:cNvCxnSpPr>
          <p:nvPr/>
        </p:nvCxnSpPr>
        <p:spPr>
          <a:xfrm flipV="1">
            <a:off x="8805097" y="2764971"/>
            <a:ext cx="2032720" cy="343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22AA812-2F92-259C-E76E-576279ABAC69}"/>
              </a:ext>
            </a:extLst>
          </p:cNvPr>
          <p:cNvSpPr txBox="1"/>
          <p:nvPr/>
        </p:nvSpPr>
        <p:spPr>
          <a:xfrm>
            <a:off x="10670953" y="1297598"/>
            <a:ext cx="1299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준비중입니다</a:t>
            </a:r>
            <a:r>
              <a:rPr lang="en-US" altLang="ko-KR" dirty="0"/>
              <a:t>”</a:t>
            </a:r>
          </a:p>
          <a:p>
            <a:r>
              <a:rPr lang="ko-KR" altLang="en-US" dirty="0" err="1"/>
              <a:t>알럿창으로</a:t>
            </a:r>
            <a:r>
              <a:rPr lang="ko-KR" altLang="en-US" dirty="0"/>
              <a:t> 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8671F3-30E4-B97D-43AF-CBC652927B8E}"/>
              </a:ext>
            </a:extLst>
          </p:cNvPr>
          <p:cNvSpPr/>
          <p:nvPr/>
        </p:nvSpPr>
        <p:spPr>
          <a:xfrm>
            <a:off x="1831185" y="537752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09B6F69-8D45-F535-84D0-722B2B878441}"/>
              </a:ext>
            </a:extLst>
          </p:cNvPr>
          <p:cNvSpPr/>
          <p:nvPr/>
        </p:nvSpPr>
        <p:spPr>
          <a:xfrm>
            <a:off x="5990816" y="537406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8BCA6C2-B525-A9EC-2090-92DF9C24BD4D}"/>
              </a:ext>
            </a:extLst>
          </p:cNvPr>
          <p:cNvGrpSpPr/>
          <p:nvPr/>
        </p:nvGrpSpPr>
        <p:grpSpPr>
          <a:xfrm>
            <a:off x="1883437" y="4678632"/>
            <a:ext cx="8166256" cy="609403"/>
            <a:chOff x="1883437" y="5166312"/>
            <a:chExt cx="8166256" cy="609403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D9DA6373-36DE-D306-8ED1-AD339BAA2406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C1454C0-135A-EB5C-4049-6788D6E7F8D4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1504C83-E4E6-4CDB-BB80-24BA680BC28E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정시모집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EB23C6AC-78A5-02AC-FDAD-D9EE24574680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dirty="0"/>
                  <a:t>아주대학교</a:t>
                </a:r>
                <a:endParaRPr lang="en-US" altLang="ko-KR" sz="1100" dirty="0"/>
              </a:p>
              <a:p>
                <a:pPr algn="ctr"/>
                <a:r>
                  <a:rPr lang="ko-KR" altLang="en-US" sz="1100" dirty="0"/>
                  <a:t>학과별 홈페이지</a:t>
                </a:r>
                <a:endParaRPr lang="en-US" altLang="ko-KR" sz="1100" dirty="0"/>
              </a:p>
              <a:p>
                <a:pPr algn="ctr"/>
                <a:r>
                  <a:rPr lang="en-US" altLang="ko-KR" sz="800" dirty="0"/>
                  <a:t>(</a:t>
                </a:r>
                <a:r>
                  <a:rPr lang="ko-KR" altLang="en-US" sz="800" dirty="0"/>
                  <a:t>바로가기</a:t>
                </a:r>
                <a:endParaRPr lang="ko-KR" altLang="en-US" sz="1100" dirty="0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F3734021-1D0B-70B1-FEB6-9E6939BA9CC2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2028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입학전형 시행계획</a:t>
                </a: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FCA5B71-CA9B-2CD6-6D89-09E0E5470E88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신설 첨단학과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  <a:endParaRPr lang="en-US" altLang="ko-KR" sz="800" dirty="0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3797BAA2-202B-4515-62F6-51F92A01A9D5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아주대학교 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AI </a:t>
                </a:r>
                <a:r>
                  <a:rPr lang="ko-KR" altLang="en-US" sz="1000" dirty="0" err="1"/>
                  <a:t>대학어디가</a:t>
                </a:r>
                <a:endParaRPr lang="ko-KR" altLang="en-US" sz="1000" dirty="0"/>
              </a:p>
            </p:txBody>
          </p: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956BA99-BAB0-CABE-A32A-5743C9191BB0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첨단학과 안내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0424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0BBE-0079-D058-904B-707963C53697}"/>
              </a:ext>
            </a:extLst>
          </p:cNvPr>
          <p:cNvSpPr/>
          <p:nvPr/>
        </p:nvSpPr>
        <p:spPr>
          <a:xfrm>
            <a:off x="0" y="681037"/>
            <a:ext cx="12192000" cy="61671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12.18.(</a:t>
            </a:r>
            <a:r>
              <a:rPr lang="ko-KR" altLang="en-US" dirty="0"/>
              <a:t>금</a:t>
            </a:r>
            <a:r>
              <a:rPr lang="en-US" altLang="ko-KR" dirty="0"/>
              <a:t>) 15:00(</a:t>
            </a:r>
            <a:r>
              <a:rPr lang="ko-KR" altLang="en-US" dirty="0"/>
              <a:t>예정</a:t>
            </a:r>
            <a:r>
              <a:rPr lang="en-US" altLang="ko-KR" dirty="0"/>
              <a:t>)</a:t>
            </a:r>
            <a:r>
              <a:rPr lang="ko-KR" altLang="en-US" dirty="0"/>
              <a:t>부터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B02A29-63B0-EE8C-CBF4-22FB1D5BF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96" y="790590"/>
            <a:ext cx="1895740" cy="5334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EBA6BC-0818-CB57-232B-00C086CF0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97" y="150432"/>
            <a:ext cx="1767840" cy="1767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0E8605-7330-6115-ECEE-758849250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895" y="4606834"/>
            <a:ext cx="2514600" cy="2514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459DCF-4DD2-ED11-118B-4E1988D47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293" y="4479293"/>
            <a:ext cx="2378707" cy="23787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ED4BABD-53C4-16A9-506A-51739B3A6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12"/>
          <a:stretch/>
        </p:blipFill>
        <p:spPr>
          <a:xfrm>
            <a:off x="2502983" y="764543"/>
            <a:ext cx="4395216" cy="85375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4B3D7C-7B37-F386-8936-399E03C9E3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1" b="5324"/>
          <a:stretch/>
        </p:blipFill>
        <p:spPr>
          <a:xfrm>
            <a:off x="5881339" y="763937"/>
            <a:ext cx="3306204" cy="85716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ADCCC03-640A-103B-FDF2-0BBF0BC7436B}"/>
              </a:ext>
            </a:extLst>
          </p:cNvPr>
          <p:cNvSpPr/>
          <p:nvPr/>
        </p:nvSpPr>
        <p:spPr>
          <a:xfrm>
            <a:off x="5937286" y="1721352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8211-196F-CF85-8B48-C9DAF11EFD60}"/>
              </a:ext>
            </a:extLst>
          </p:cNvPr>
          <p:cNvSpPr txBox="1"/>
          <p:nvPr/>
        </p:nvSpPr>
        <p:spPr>
          <a:xfrm>
            <a:off x="6021986" y="1737354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수시모집 </a:t>
            </a:r>
            <a:endParaRPr lang="en-US" altLang="ko-KR" dirty="0"/>
          </a:p>
          <a:p>
            <a:r>
              <a:rPr lang="ko-KR" altLang="en-US" dirty="0"/>
              <a:t>최초 합격자 발표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20F4A-7F4B-B11A-1A37-980833B5B05C}"/>
              </a:ext>
            </a:extLst>
          </p:cNvPr>
          <p:cNvSpPr txBox="1"/>
          <p:nvPr/>
        </p:nvSpPr>
        <p:spPr>
          <a:xfrm>
            <a:off x="5990816" y="2354027"/>
            <a:ext cx="401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최초합격자 발표</a:t>
            </a:r>
            <a:r>
              <a:rPr lang="en-US" altLang="ko-KR" sz="1000" dirty="0"/>
              <a:t>:  2026.12.18.(</a:t>
            </a:r>
            <a:r>
              <a:rPr lang="ko-KR" altLang="en-US" sz="1000" dirty="0"/>
              <a:t>금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충원합격자 발표</a:t>
            </a:r>
            <a:r>
              <a:rPr lang="en-US" altLang="ko-KR" sz="1000" dirty="0"/>
              <a:t>:  2026.12.24.(</a:t>
            </a:r>
            <a:r>
              <a:rPr lang="ko-KR" altLang="en-US" sz="1000" dirty="0"/>
              <a:t>목</a:t>
            </a:r>
            <a:r>
              <a:rPr lang="en-US" altLang="ko-KR" sz="1000" dirty="0"/>
              <a:t>)~12.29.(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28C014-433F-2748-DF88-FF4896422077}"/>
              </a:ext>
            </a:extLst>
          </p:cNvPr>
          <p:cNvSpPr/>
          <p:nvPr/>
        </p:nvSpPr>
        <p:spPr>
          <a:xfrm>
            <a:off x="6688282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최초 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발표 바로가기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3D91B-0973-8E36-E3B7-6FFFCF328757}"/>
              </a:ext>
            </a:extLst>
          </p:cNvPr>
          <p:cNvSpPr/>
          <p:nvPr/>
        </p:nvSpPr>
        <p:spPr>
          <a:xfrm>
            <a:off x="8051270" y="2895669"/>
            <a:ext cx="1209810" cy="79212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합격자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유의사항 안내</a:t>
            </a:r>
            <a:endParaRPr lang="en-US" altLang="ko-KR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D99D52D-EC2B-E84B-3589-6AB8E8B18F03}"/>
              </a:ext>
            </a:extLst>
          </p:cNvPr>
          <p:cNvSpPr/>
          <p:nvPr/>
        </p:nvSpPr>
        <p:spPr>
          <a:xfrm>
            <a:off x="8477046" y="4000166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정시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6A95DF6-3034-902F-0DBD-A15B12726F6E}"/>
              </a:ext>
            </a:extLst>
          </p:cNvPr>
          <p:cNvSpPr/>
          <p:nvPr/>
        </p:nvSpPr>
        <p:spPr>
          <a:xfrm>
            <a:off x="6835033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입학상담솔루션</a:t>
            </a:r>
            <a:endParaRPr lang="en-US" altLang="ko-KR" sz="1400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바로가기</a:t>
            </a:r>
            <a:r>
              <a:rPr lang="en-US" altLang="ko-KR" sz="1000" dirty="0"/>
              <a:t>]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801645-FD67-779C-6773-E4CDB17B60B6}"/>
              </a:ext>
            </a:extLst>
          </p:cNvPr>
          <p:cNvSpPr/>
          <p:nvPr/>
        </p:nvSpPr>
        <p:spPr>
          <a:xfrm>
            <a:off x="3523210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2024~2026</a:t>
            </a:r>
            <a:r>
              <a:rPr lang="ko-KR" altLang="en-US" sz="1100" dirty="0"/>
              <a:t>학년도</a:t>
            </a:r>
            <a:endParaRPr lang="en-US" altLang="ko-KR" sz="1100" dirty="0"/>
          </a:p>
          <a:p>
            <a:pPr algn="ctr"/>
            <a:r>
              <a:rPr lang="ko-KR" altLang="en-US" sz="1600" dirty="0"/>
              <a:t>입시결과안내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D8D07DE-2722-0131-5560-43153BF68040}"/>
              </a:ext>
            </a:extLst>
          </p:cNvPr>
          <p:cNvSpPr/>
          <p:nvPr/>
        </p:nvSpPr>
        <p:spPr>
          <a:xfrm>
            <a:off x="5179121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2027</a:t>
            </a:r>
            <a:r>
              <a:rPr lang="ko-KR" altLang="en-US" sz="900" dirty="0"/>
              <a:t>학년도</a:t>
            </a:r>
            <a:r>
              <a:rPr lang="en-US" altLang="ko-KR" sz="900" dirty="0"/>
              <a:t> </a:t>
            </a:r>
            <a:r>
              <a:rPr lang="ko-KR" altLang="en-US" sz="900" dirty="0"/>
              <a:t>아주대학교</a:t>
            </a:r>
            <a:endParaRPr lang="en-US" altLang="ko-KR" sz="900" dirty="0"/>
          </a:p>
          <a:p>
            <a:pPr algn="ctr"/>
            <a:r>
              <a:rPr lang="ko-KR" altLang="en-US" sz="900" dirty="0"/>
              <a:t>학생부 환산점수 계산기</a:t>
            </a:r>
            <a:endParaRPr lang="en-US" altLang="ko-KR" sz="9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8AF2CC-9F21-E70D-A671-A769E7EAABE6}"/>
              </a:ext>
            </a:extLst>
          </p:cNvPr>
          <p:cNvSpPr/>
          <p:nvPr/>
        </p:nvSpPr>
        <p:spPr>
          <a:xfrm>
            <a:off x="1867299" y="4005625"/>
            <a:ext cx="1585473" cy="53122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서류도착확인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8A94A6-A5F5-3CE6-EC24-31D974F7B914}"/>
              </a:ext>
            </a:extLst>
          </p:cNvPr>
          <p:cNvSpPr/>
          <p:nvPr/>
        </p:nvSpPr>
        <p:spPr>
          <a:xfrm>
            <a:off x="1831185" y="1734417"/>
            <a:ext cx="4050154" cy="21703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3276AA-7328-061D-7FEA-5D218F1CA6B9}"/>
              </a:ext>
            </a:extLst>
          </p:cNvPr>
          <p:cNvSpPr txBox="1"/>
          <p:nvPr/>
        </p:nvSpPr>
        <p:spPr>
          <a:xfrm>
            <a:off x="1918875" y="1854926"/>
            <a:ext cx="388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2027</a:t>
            </a:r>
            <a:r>
              <a:rPr lang="ko-KR" altLang="en-US" dirty="0"/>
              <a:t>학년도 편입학모집 마감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787B1-2441-F9D0-E404-38E7FD488C9B}"/>
              </a:ext>
            </a:extLst>
          </p:cNvPr>
          <p:cNvSpPr txBox="1"/>
          <p:nvPr/>
        </p:nvSpPr>
        <p:spPr>
          <a:xfrm>
            <a:off x="1831185" y="3223015"/>
            <a:ext cx="401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※ </a:t>
            </a:r>
            <a:r>
              <a:rPr lang="ko-KR" altLang="en-US" sz="1000" dirty="0"/>
              <a:t>서류제출</a:t>
            </a:r>
            <a:r>
              <a:rPr lang="en-US" altLang="ko-KR" sz="1000" dirty="0"/>
              <a:t>: 2026.12.15.(</a:t>
            </a:r>
            <a:r>
              <a:rPr lang="ko-KR" altLang="en-US" sz="1000" dirty="0"/>
              <a:t>화</a:t>
            </a:r>
            <a:r>
              <a:rPr lang="en-US" altLang="ko-KR" sz="1000" dirty="0"/>
              <a:t>)</a:t>
            </a:r>
            <a:r>
              <a:rPr lang="ko-KR" altLang="en-US" sz="1000" dirty="0"/>
              <a:t>까지</a:t>
            </a:r>
            <a:endParaRPr lang="en-US" altLang="ko-KR" sz="1000" dirty="0"/>
          </a:p>
          <a:p>
            <a:r>
              <a:rPr lang="en-US" altLang="ko-KR" sz="1000" dirty="0"/>
              <a:t>                [</a:t>
            </a:r>
            <a:r>
              <a:rPr lang="ko-KR" altLang="en-US" sz="1000" dirty="0"/>
              <a:t>마감일 우체국 소인분까지 인정</a:t>
            </a:r>
            <a:r>
              <a:rPr lang="en-US" altLang="ko-KR" sz="1000" dirty="0"/>
              <a:t>(</a:t>
            </a:r>
            <a:r>
              <a:rPr lang="ko-KR" altLang="en-US" sz="1000" dirty="0"/>
              <a:t>등기우편</a:t>
            </a:r>
            <a:r>
              <a:rPr lang="en-US" altLang="ko-KR" sz="1000" dirty="0"/>
              <a:t>, </a:t>
            </a:r>
            <a:r>
              <a:rPr lang="ko-KR" altLang="en-US" sz="1000" dirty="0"/>
              <a:t>택배</a:t>
            </a:r>
            <a:r>
              <a:rPr lang="en-US" altLang="ko-KR" sz="1000" dirty="0"/>
              <a:t>)]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860A85-4F6D-9593-A65C-39A3F5C551BD}"/>
              </a:ext>
            </a:extLst>
          </p:cNvPr>
          <p:cNvSpPr/>
          <p:nvPr/>
        </p:nvSpPr>
        <p:spPr>
          <a:xfrm>
            <a:off x="1894199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원서 기재사항</a:t>
            </a:r>
            <a:endParaRPr lang="en-US" altLang="ko-KR" sz="900" dirty="0"/>
          </a:p>
          <a:p>
            <a:pPr algn="ctr"/>
            <a:r>
              <a:rPr lang="ko-KR" altLang="en-US" sz="1200" dirty="0"/>
              <a:t>수정요청</a:t>
            </a:r>
            <a:endParaRPr lang="en-US" altLang="ko-KR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DB937E-FBD3-6F95-7FFA-46AE7B1D278C}"/>
              </a:ext>
            </a:extLst>
          </p:cNvPr>
          <p:cNvSpPr/>
          <p:nvPr/>
        </p:nvSpPr>
        <p:spPr>
          <a:xfrm>
            <a:off x="4620175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편입학</a:t>
            </a:r>
            <a:endParaRPr lang="en-US" altLang="ko-KR" sz="1200" dirty="0"/>
          </a:p>
          <a:p>
            <a:pPr algn="ctr"/>
            <a:r>
              <a:rPr lang="ko-KR" altLang="en-US" sz="1200" dirty="0"/>
              <a:t>모집요강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FAAA38-71AC-7415-03C7-B72EBE9DD98D}"/>
              </a:ext>
            </a:extLst>
          </p:cNvPr>
          <p:cNvSpPr/>
          <p:nvPr/>
        </p:nvSpPr>
        <p:spPr>
          <a:xfrm>
            <a:off x="3257187" y="2351380"/>
            <a:ext cx="1209810" cy="792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지원현황</a:t>
            </a:r>
            <a:endParaRPr lang="en-US" altLang="ko-KR" sz="1200" dirty="0"/>
          </a:p>
          <a:p>
            <a:pPr algn="ctr"/>
            <a:r>
              <a:rPr lang="ko-KR" altLang="en-US" sz="1200" dirty="0"/>
              <a:t>바로가기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93FD440-5454-CE3A-00AA-BD720781E894}"/>
              </a:ext>
            </a:extLst>
          </p:cNvPr>
          <p:cNvCxnSpPr/>
          <p:nvPr/>
        </p:nvCxnSpPr>
        <p:spPr>
          <a:xfrm flipV="1">
            <a:off x="7474226" y="2612571"/>
            <a:ext cx="3211191" cy="374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15AD389-7B9F-DEFC-F6C8-0557EBBA147A}"/>
              </a:ext>
            </a:extLst>
          </p:cNvPr>
          <p:cNvCxnSpPr>
            <a:cxnSpLocks/>
          </p:cNvCxnSpPr>
          <p:nvPr/>
        </p:nvCxnSpPr>
        <p:spPr>
          <a:xfrm flipV="1">
            <a:off x="8805097" y="2764971"/>
            <a:ext cx="2032720" cy="343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A8D428-2DD4-8CD0-EF03-307FB3818FDE}"/>
              </a:ext>
            </a:extLst>
          </p:cNvPr>
          <p:cNvSpPr txBox="1"/>
          <p:nvPr/>
        </p:nvSpPr>
        <p:spPr>
          <a:xfrm>
            <a:off x="10670953" y="1297598"/>
            <a:ext cx="12992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12.17.(</a:t>
            </a:r>
            <a:r>
              <a:rPr lang="ko-KR" altLang="en-US" dirty="0"/>
              <a:t>목</a:t>
            </a:r>
            <a:r>
              <a:rPr lang="en-US" altLang="ko-KR" dirty="0"/>
              <a:t>) </a:t>
            </a:r>
            <a:r>
              <a:rPr lang="ko-KR" altLang="en-US" dirty="0"/>
              <a:t>이전에 </a:t>
            </a:r>
            <a:endParaRPr lang="en-US" altLang="ko-KR" dirty="0"/>
          </a:p>
          <a:p>
            <a:r>
              <a:rPr lang="ko-KR" altLang="en-US" dirty="0"/>
              <a:t>관련 링크 전달 예정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12.18.(</a:t>
            </a:r>
            <a:r>
              <a:rPr lang="ko-KR" altLang="en-US" dirty="0"/>
              <a:t>금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반영 요청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098B65-3234-14F3-5DAA-6E307ADCAF2E}"/>
              </a:ext>
            </a:extLst>
          </p:cNvPr>
          <p:cNvSpPr/>
          <p:nvPr/>
        </p:nvSpPr>
        <p:spPr>
          <a:xfrm>
            <a:off x="1831185" y="5377522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바로가기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148C2B-02CD-748A-84F8-80EBDEF34F57}"/>
              </a:ext>
            </a:extLst>
          </p:cNvPr>
          <p:cNvSpPr/>
          <p:nvPr/>
        </p:nvSpPr>
        <p:spPr>
          <a:xfrm>
            <a:off x="5990816" y="5374068"/>
            <a:ext cx="4116101" cy="56107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아주대학교 </a:t>
            </a:r>
            <a:r>
              <a:rPr lang="ko-KR" altLang="en-US" dirty="0" err="1"/>
              <a:t>입학처</a:t>
            </a:r>
            <a:r>
              <a:rPr lang="ko-KR" altLang="en-US" dirty="0"/>
              <a:t> 바로가기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879F465-5214-8EBD-E54C-E608449356EA}"/>
              </a:ext>
            </a:extLst>
          </p:cNvPr>
          <p:cNvGrpSpPr/>
          <p:nvPr/>
        </p:nvGrpSpPr>
        <p:grpSpPr>
          <a:xfrm>
            <a:off x="1883437" y="4678632"/>
            <a:ext cx="8166256" cy="609403"/>
            <a:chOff x="1883437" y="5166312"/>
            <a:chExt cx="8166256" cy="609403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80E1963-4E8A-56AD-BEDC-23752C6317D9}"/>
                </a:ext>
              </a:extLst>
            </p:cNvPr>
            <p:cNvGrpSpPr/>
            <p:nvPr/>
          </p:nvGrpSpPr>
          <p:grpSpPr>
            <a:xfrm>
              <a:off x="1883437" y="5166312"/>
              <a:ext cx="8166256" cy="609403"/>
              <a:chOff x="1831185" y="5314359"/>
              <a:chExt cx="8166256" cy="609403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A1A6EC4-BD59-15A4-6617-46AE3F77BEFA}"/>
                  </a:ext>
                </a:extLst>
              </p:cNvPr>
              <p:cNvSpPr/>
              <p:nvPr/>
            </p:nvSpPr>
            <p:spPr>
              <a:xfrm>
                <a:off x="1831185" y="5314359"/>
                <a:ext cx="8166256" cy="6094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81AE264-5F3F-0313-DA31-8E62B69E77E8}"/>
                  </a:ext>
                </a:extLst>
              </p:cNvPr>
              <p:cNvSpPr/>
              <p:nvPr/>
            </p:nvSpPr>
            <p:spPr>
              <a:xfrm>
                <a:off x="1918876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2027</a:t>
                </a:r>
                <a:r>
                  <a:rPr lang="ko-KR" altLang="en-US" sz="800" dirty="0"/>
                  <a:t>학년도 정시모집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59D0F7F-E1A1-5BF1-4335-A46E244FCC67}"/>
                  </a:ext>
                </a:extLst>
              </p:cNvPr>
              <p:cNvSpPr/>
              <p:nvPr/>
            </p:nvSpPr>
            <p:spPr>
              <a:xfrm>
                <a:off x="5978613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dirty="0"/>
                  <a:t>아주대학교</a:t>
                </a:r>
                <a:endParaRPr lang="en-US" altLang="ko-KR" sz="1100" dirty="0"/>
              </a:p>
              <a:p>
                <a:pPr algn="ctr"/>
                <a:r>
                  <a:rPr lang="ko-KR" altLang="en-US" sz="1100" dirty="0"/>
                  <a:t>학과별 홈페이지</a:t>
                </a:r>
                <a:endParaRPr lang="en-US" altLang="ko-KR" sz="1100" dirty="0"/>
              </a:p>
              <a:p>
                <a:pPr algn="ctr"/>
                <a:r>
                  <a:rPr lang="en-US" altLang="ko-KR" sz="800" dirty="0"/>
                  <a:t>(</a:t>
                </a:r>
                <a:r>
                  <a:rPr lang="ko-KR" altLang="en-US" sz="800" dirty="0"/>
                  <a:t>바로가기</a:t>
                </a:r>
                <a:endParaRPr lang="ko-KR" altLang="en-US" sz="1100" dirty="0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863CB432-F313-8D33-1D89-B4474686A67F}"/>
                  </a:ext>
                </a:extLst>
              </p:cNvPr>
              <p:cNvSpPr/>
              <p:nvPr/>
            </p:nvSpPr>
            <p:spPr>
              <a:xfrm>
                <a:off x="8679809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2028</a:t>
                </a:r>
                <a:r>
                  <a:rPr lang="ko-KR" altLang="en-US" sz="1000" dirty="0"/>
                  <a:t>학년도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입학전형 시행계획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EBD181D0-C136-FC69-176B-39EC962802A3}"/>
                  </a:ext>
                </a:extLst>
              </p:cNvPr>
              <p:cNvSpPr/>
              <p:nvPr/>
            </p:nvSpPr>
            <p:spPr>
              <a:xfrm>
                <a:off x="3269474" y="5349405"/>
                <a:ext cx="1251044" cy="531223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/>
                  <a:t>신설 첨단학과</a:t>
                </a:r>
                <a:endParaRPr lang="en-US" altLang="ko-KR" sz="800" dirty="0"/>
              </a:p>
              <a:p>
                <a:pPr algn="ctr"/>
                <a:r>
                  <a:rPr lang="ko-KR" altLang="en-US" sz="800" dirty="0"/>
                  <a:t>안내 영상</a:t>
                </a:r>
                <a:endParaRPr lang="en-US" altLang="ko-KR" sz="800" dirty="0"/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0A2CFC6B-B719-65C0-C741-7C800777B7FF}"/>
                  </a:ext>
                </a:extLst>
              </p:cNvPr>
              <p:cNvSpPr/>
              <p:nvPr/>
            </p:nvSpPr>
            <p:spPr>
              <a:xfrm>
                <a:off x="7329211" y="5349405"/>
                <a:ext cx="1251044" cy="5312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아주대학교 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AI </a:t>
                </a:r>
                <a:r>
                  <a:rPr lang="ko-KR" altLang="en-US" sz="1000" dirty="0" err="1"/>
                  <a:t>대학어디가</a:t>
                </a:r>
                <a:endParaRPr lang="ko-KR" altLang="en-US" sz="1000" dirty="0"/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7D14AA6-AC5F-E3B8-8210-8ECF07F26422}"/>
                </a:ext>
              </a:extLst>
            </p:cNvPr>
            <p:cNvSpPr/>
            <p:nvPr/>
          </p:nvSpPr>
          <p:spPr>
            <a:xfrm>
              <a:off x="4674621" y="5201358"/>
              <a:ext cx="1251044" cy="53122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/>
                <a:t>아주대학교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첨단학과 안내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2658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77988-568C-F426-A2C0-9E7E26C1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31655"/>
            <a:ext cx="10515600" cy="1296402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최초 합격자 발표 바로가기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  </a:t>
            </a:r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 </a:t>
            </a:r>
            <a:r>
              <a:rPr lang="ko-KR" altLang="en-US" sz="2000" dirty="0">
                <a:solidFill>
                  <a:srgbClr val="FF0000"/>
                </a:solidFill>
              </a:rPr>
              <a:t>추후 전달</a:t>
            </a:r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D55E87-0740-32F2-50FB-F445872A6641}"/>
              </a:ext>
            </a:extLst>
          </p:cNvPr>
          <p:cNvSpPr txBox="1">
            <a:spLocks/>
          </p:cNvSpPr>
          <p:nvPr/>
        </p:nvSpPr>
        <p:spPr>
          <a:xfrm>
            <a:off x="341811" y="1318165"/>
            <a:ext cx="10515600" cy="1296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solidFill>
                  <a:srgbClr val="FF0000"/>
                </a:solidFill>
              </a:rPr>
              <a:t>합격자 유의사항 안내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최초 합격자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링크</a:t>
            </a:r>
            <a:r>
              <a:rPr lang="en-US" altLang="ko-KR" sz="2000" dirty="0">
                <a:solidFill>
                  <a:srgbClr val="FF0000"/>
                </a:solidFill>
              </a:rPr>
              <a:t>: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43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19625-8DD0-09B0-9CFC-31DE2178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정시모집부터는 </a:t>
            </a:r>
            <a:r>
              <a:rPr lang="en-US" altLang="ko-KR" dirty="0"/>
              <a:t>12</a:t>
            </a:r>
            <a:r>
              <a:rPr lang="ko-KR" altLang="en-US" dirty="0"/>
              <a:t>월중순에 정리해서  </a:t>
            </a:r>
            <a:r>
              <a:rPr lang="ko-KR" altLang="en-US" dirty="0" err="1"/>
              <a:t>말씀드릴게요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17E7FD-C25F-084E-E56C-11D85644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큰 틀은 유지하는 상태에서 </a:t>
            </a:r>
            <a:r>
              <a:rPr lang="ko-KR" altLang="en-US" dirty="0" err="1"/>
              <a:t>갈겁니다</a:t>
            </a:r>
            <a:r>
              <a:rPr lang="en-US" altLang="ko-KR" dirty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384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147A43-39C2-F8AE-8520-79F3AB641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1" y="2501537"/>
            <a:ext cx="4349931" cy="43499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18A463-C744-56F1-D3D4-730B9C575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043" y="-544285"/>
            <a:ext cx="3812177" cy="38121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7BC7EA-9B56-DD6C-59B3-9F0133899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80" y="0"/>
            <a:ext cx="3045823" cy="30458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8D97472-6193-1F52-F670-9E4F60006E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368040"/>
            <a:ext cx="3429000" cy="3429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1F0155-C279-DE8F-D061-F964962B9D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578" y="121920"/>
            <a:ext cx="3429000" cy="3429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33338C-6CDD-A567-8F79-33F80F7F8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915" y="3045823"/>
            <a:ext cx="3812177" cy="38121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D6F4D29-17E7-CFEC-25C7-A8F8272D16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0" y="-359229"/>
            <a:ext cx="3910149" cy="39101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084B7E-4E3D-4FFF-0C3A-97BCB3629B18}"/>
              </a:ext>
            </a:extLst>
          </p:cNvPr>
          <p:cNvSpPr txBox="1"/>
          <p:nvPr/>
        </p:nvSpPr>
        <p:spPr>
          <a:xfrm>
            <a:off x="7559039" y="3267892"/>
            <a:ext cx="2508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치토</a:t>
            </a:r>
            <a:r>
              <a:rPr lang="ko-KR" altLang="en-US" dirty="0"/>
              <a:t> </a:t>
            </a:r>
            <a:r>
              <a:rPr lang="en-US" altLang="ko-KR" dirty="0"/>
              <a:t>3D </a:t>
            </a:r>
            <a:r>
              <a:rPr lang="ko-KR" altLang="en-US" dirty="0"/>
              <a:t>이미지는</a:t>
            </a:r>
            <a:endParaRPr lang="en-US" altLang="ko-KR" dirty="0"/>
          </a:p>
          <a:p>
            <a:r>
              <a:rPr lang="en-US" altLang="ko-KR" dirty="0" err="1"/>
              <a:t>Png</a:t>
            </a:r>
            <a:r>
              <a:rPr lang="en-US" altLang="ko-KR" dirty="0"/>
              <a:t> </a:t>
            </a:r>
            <a:r>
              <a:rPr lang="ko-KR" altLang="en-US" dirty="0"/>
              <a:t>파일로 보유 중</a:t>
            </a:r>
          </a:p>
        </p:txBody>
      </p:sp>
    </p:spTree>
    <p:extLst>
      <p:ext uri="{BB962C8B-B14F-4D97-AF65-F5344CB8AC3E}">
        <p14:creationId xmlns:p14="http://schemas.microsoft.com/office/powerpoint/2010/main" val="907827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9F1EF-C000-0B03-5C30-65970A0D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2C304-EE5A-1F45-0704-31AF1BE99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4EC9E7-57FD-523F-9837-CE9B8E577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218" y="0"/>
            <a:ext cx="5072892" cy="712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112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CDCF7-CB43-C254-C8DF-4EE0BABE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인하대 이미지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90D002-03B2-FF5F-4CED-C1F9F4A6C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0" y="1280160"/>
            <a:ext cx="11878399" cy="5480277"/>
          </a:xfrm>
        </p:spPr>
      </p:pic>
    </p:spTree>
    <p:extLst>
      <p:ext uri="{BB962C8B-B14F-4D97-AF65-F5344CB8AC3E}">
        <p14:creationId xmlns:p14="http://schemas.microsoft.com/office/powerpoint/2010/main" val="410550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2405</Words>
  <Application>Microsoft Office PowerPoint</Application>
  <PresentationFormat>와이드스크린</PresentationFormat>
  <Paragraphs>640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아주대 인트로 (예시)</vt:lpstr>
      <vt:lpstr>아주대 인트로 (예시)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09.11.(금) 18:00부터</vt:lpstr>
      <vt:lpstr>09.28.(월) 10:00부터</vt:lpstr>
      <vt:lpstr>10.12.(월) 10:00부터</vt:lpstr>
      <vt:lpstr>PowerPoint 프레젠테이션</vt:lpstr>
      <vt:lpstr>10.26.(월) 10:00부터</vt:lpstr>
      <vt:lpstr>11.16.(월) 10:00부터</vt:lpstr>
      <vt:lpstr>PowerPoint 프레젠테이션</vt:lpstr>
      <vt:lpstr>11.30.(월) 10:00부터</vt:lpstr>
      <vt:lpstr>12.07.(월) 09:00부터</vt:lpstr>
      <vt:lpstr>PowerPoint 프레젠테이션</vt:lpstr>
      <vt:lpstr>12.12.(토) 09:00부터</vt:lpstr>
      <vt:lpstr>PowerPoint 프레젠테이션</vt:lpstr>
      <vt:lpstr>12.14.(월) 16:00부터</vt:lpstr>
      <vt:lpstr>12.18.(금) 15:00(예정)부터</vt:lpstr>
      <vt:lpstr>PowerPoint 프레젠테이션</vt:lpstr>
      <vt:lpstr>정시모집부터는 12월중순에 정리해서  말씀드릴게요!!</vt:lpstr>
      <vt:lpstr>PowerPoint 프레젠테이션</vt:lpstr>
      <vt:lpstr>PowerPoint 프레젠테이션</vt:lpstr>
      <vt:lpstr>인하대 이미지</vt:lpstr>
    </vt:vector>
  </TitlesOfParts>
  <Company>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rakun</dc:creator>
  <cp:lastModifiedBy>rakun</cp:lastModifiedBy>
  <cp:revision>2</cp:revision>
  <dcterms:created xsi:type="dcterms:W3CDTF">2026-08-20T02:56:37Z</dcterms:created>
  <dcterms:modified xsi:type="dcterms:W3CDTF">2026-08-20T07:13:55Z</dcterms:modified>
</cp:coreProperties>
</file>